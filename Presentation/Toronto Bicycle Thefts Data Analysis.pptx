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Mon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Mon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Mono-italic.fntdata"/><Relationship Id="rId23" Type="http://schemas.openxmlformats.org/officeDocument/2006/relationships/slide" Target="slides/slide18.xml"/><Relationship Id="rId45"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Mon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SLIDES_API178292406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SLIDES_API178292406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SLIDES_API178292406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SLIDES_API178292406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dc5e21f2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dc5e21f2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dc5e21f2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dc5e21f2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dc5e21f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dc5e21f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dc5e21f2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dc5e21f2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SLIDES_API1782924067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SLIDES_API1782924067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5e1fa1c1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5e1fa1c1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use </a:t>
            </a:r>
            <a:r>
              <a:rPr b="1" lang="en">
                <a:solidFill>
                  <a:schemeClr val="dk1"/>
                </a:solidFill>
              </a:rPr>
              <a:t>EC2</a:t>
            </a:r>
            <a:r>
              <a:rPr lang="en">
                <a:solidFill>
                  <a:schemeClr val="dk1"/>
                </a:solidFill>
              </a:rPr>
              <a:t> as a full Linux VM where we can install and control everything ourselves—Java, Kafka, ZooKeeper and the Python ETL—so we can tune configs and debug over SSH on a single t3.xlarge box.</a:t>
            </a:r>
            <a:br>
              <a:rPr lang="en">
                <a:solidFill>
                  <a:schemeClr val="dk1"/>
                </a:solidFill>
              </a:rPr>
            </a:br>
            <a:r>
              <a:rPr b="1" lang="en">
                <a:solidFill>
                  <a:schemeClr val="dk1"/>
                </a:solidFill>
              </a:rPr>
              <a:t>S3</a:t>
            </a:r>
            <a:r>
              <a:rPr lang="en">
                <a:solidFill>
                  <a:schemeClr val="dk1"/>
                </a:solidFill>
              </a:rPr>
              <a:t> is the cheapest and most durable place to park our cleaned CSV, and it makes sharing the same dataset with teammates and other jobs really easy. </a:t>
            </a:r>
            <a:r>
              <a:rPr b="1" lang="en">
                <a:solidFill>
                  <a:schemeClr val="dk1"/>
                </a:solidFill>
              </a:rPr>
              <a:t>RDS MySQL</a:t>
            </a:r>
            <a:r>
              <a:rPr lang="en">
                <a:solidFill>
                  <a:schemeClr val="dk1"/>
                </a:solidFill>
              </a:rPr>
              <a:t> gives us a managed relational database, so we don’t worry about patching or backups but still get proper SQL, schemas, and views for analysis. And </a:t>
            </a:r>
            <a:r>
              <a:rPr b="1" lang="en">
                <a:solidFill>
                  <a:schemeClr val="dk1"/>
                </a:solidFill>
              </a:rPr>
              <a:t>QuickSight</a:t>
            </a:r>
            <a:r>
              <a:rPr lang="en">
                <a:solidFill>
                  <a:schemeClr val="dk1"/>
                </a:solidFill>
              </a:rPr>
              <a:t> is a native BI tool on AWS that plugs straight into RDS, so we can build interactive dashboards, maps, and filters without building our own front-end or managing another analytics tool.</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e0cd8f6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e0cd8f6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dc5e21f2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dc5e21f2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dc5e21f2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dc5e21f2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e5c0208b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e5c0208b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e0cd8f60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e0cd8f60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e0cd8f60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e0cd8f60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e0cd8f60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e0cd8f60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e0cd8f60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e0cd8f60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e0cd8f60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e0cd8f60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dc5e21f2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dc5e21f2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e0cd8f60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e0cd8f60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e0cd8f60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e0cd8f60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5e1fa1c1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5e1fa1c1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5e1fa1c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5e1fa1c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e5587dd2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e5587dd2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e5587dd2f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e5587dd2f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e5587dd2f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e5587dd2f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e5587dd2f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e5587dd2f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e5587dd2f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e5587dd2f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e5587dd2f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e5587dd2f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e5587dd2f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e5587dd2f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e13000b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e13000b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e13000b5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e13000b5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e13000b5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e13000b5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e13000b5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e13000b5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e13000b5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e13000b5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e13000b5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e13000b5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e13000b5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ae13000b5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e13000b5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ae13000b5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e13000b50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ae13000b5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6.png"/><Relationship Id="rId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65D"/>
        </a:solidFill>
      </p:bgPr>
    </p:bg>
    <p:spTree>
      <p:nvGrpSpPr>
        <p:cNvPr id="53" name="Shape 53"/>
        <p:cNvGrpSpPr/>
        <p:nvPr/>
      </p:nvGrpSpPr>
      <p:grpSpPr>
        <a:xfrm>
          <a:off x="0" y="0"/>
          <a:ext cx="0" cy="0"/>
          <a:chOff x="0" y="0"/>
          <a:chExt cx="0" cy="0"/>
        </a:xfrm>
      </p:grpSpPr>
      <p:sp>
        <p:nvSpPr>
          <p:cNvPr id="54" name="Google Shape;54;p13"/>
          <p:cNvSpPr txBox="1"/>
          <p:nvPr/>
        </p:nvSpPr>
        <p:spPr>
          <a:xfrm>
            <a:off x="634950" y="1438975"/>
            <a:ext cx="7874100" cy="101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Toronto Bicycle Thefts Data Analysis</a:t>
            </a:r>
            <a:endParaRPr b="1" sz="4400">
              <a:solidFill>
                <a:srgbClr val="FFFFFF"/>
              </a:solidFill>
            </a:endParaRPr>
          </a:p>
          <a:p>
            <a:pPr indent="0" lvl="0" marL="0" rtl="0" algn="ctr">
              <a:spcBef>
                <a:spcPts val="0"/>
              </a:spcBef>
              <a:spcAft>
                <a:spcPts val="0"/>
              </a:spcAft>
              <a:buNone/>
            </a:pPr>
            <a:r>
              <a:t/>
            </a:r>
            <a:endParaRPr b="1" sz="4400">
              <a:solidFill>
                <a:srgbClr val="FFFFFF"/>
              </a:solidFill>
            </a:endParaRPr>
          </a:p>
        </p:txBody>
      </p:sp>
      <p:sp>
        <p:nvSpPr>
          <p:cNvPr id="55" name="Google Shape;55;p13"/>
          <p:cNvSpPr txBox="1"/>
          <p:nvPr/>
        </p:nvSpPr>
        <p:spPr>
          <a:xfrm>
            <a:off x="635000" y="4064100"/>
            <a:ext cx="78741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rgbClr val="FFFFFF"/>
                </a:solidFill>
              </a:rPr>
              <a:t>DAMG 7370</a:t>
            </a:r>
            <a:endParaRPr sz="2500">
              <a:solidFill>
                <a:srgbClr val="FFFFFF"/>
              </a:solidFill>
            </a:endParaRPr>
          </a:p>
          <a:p>
            <a:pPr indent="0" lvl="0" marL="0" rtl="0" algn="l">
              <a:spcBef>
                <a:spcPts val="0"/>
              </a:spcBef>
              <a:spcAft>
                <a:spcPts val="0"/>
              </a:spcAft>
              <a:buNone/>
            </a:pPr>
            <a:r>
              <a:t/>
            </a:r>
            <a:endParaRPr sz="18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4"/>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Team</a:t>
            </a:r>
            <a:endParaRPr b="1" sz="2800">
              <a:solidFill>
                <a:srgbClr val="FFFFFF"/>
              </a:solidFill>
            </a:endParaRPr>
          </a:p>
        </p:txBody>
      </p:sp>
      <p:sp>
        <p:nvSpPr>
          <p:cNvPr id="62" name="Google Shape;62;p14"/>
          <p:cNvSpPr txBox="1"/>
          <p:nvPr/>
        </p:nvSpPr>
        <p:spPr>
          <a:xfrm>
            <a:off x="635000" y="1270000"/>
            <a:ext cx="254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A365D"/>
                </a:solidFill>
              </a:rPr>
              <a:t>Chaitanya Sai Gandi</a:t>
            </a:r>
            <a:endParaRPr b="1" sz="1800">
              <a:solidFill>
                <a:srgbClr val="1A365D"/>
              </a:solidFill>
            </a:endParaRPr>
          </a:p>
        </p:txBody>
      </p:sp>
      <p:sp>
        <p:nvSpPr>
          <p:cNvPr id="63" name="Google Shape;63;p14"/>
          <p:cNvSpPr txBox="1"/>
          <p:nvPr/>
        </p:nvSpPr>
        <p:spPr>
          <a:xfrm>
            <a:off x="3302000" y="1270000"/>
            <a:ext cx="1905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182CE"/>
                </a:solidFill>
              </a:rPr>
              <a:t>Cloud Infra &amp; ETL</a:t>
            </a:r>
            <a:endParaRPr sz="1600">
              <a:solidFill>
                <a:srgbClr val="3182CE"/>
              </a:solidFill>
            </a:endParaRPr>
          </a:p>
        </p:txBody>
      </p:sp>
      <p:sp>
        <p:nvSpPr>
          <p:cNvPr id="64" name="Google Shape;64;p14"/>
          <p:cNvSpPr txBox="1"/>
          <p:nvPr/>
        </p:nvSpPr>
        <p:spPr>
          <a:xfrm>
            <a:off x="5334000" y="1270000"/>
            <a:ext cx="342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718096"/>
                </a:solidFill>
              </a:rPr>
              <a:t>EC2, Kafka, S3, Python ETL</a:t>
            </a:r>
            <a:endParaRPr>
              <a:solidFill>
                <a:srgbClr val="718096"/>
              </a:solidFill>
            </a:endParaRPr>
          </a:p>
        </p:txBody>
      </p:sp>
      <p:sp>
        <p:nvSpPr>
          <p:cNvPr id="65" name="Google Shape;65;p14"/>
          <p:cNvSpPr txBox="1"/>
          <p:nvPr/>
        </p:nvSpPr>
        <p:spPr>
          <a:xfrm>
            <a:off x="635000" y="1968500"/>
            <a:ext cx="254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A365D"/>
                </a:solidFill>
              </a:rPr>
              <a:t>Mudra Pandya</a:t>
            </a:r>
            <a:endParaRPr b="1" sz="1800">
              <a:solidFill>
                <a:srgbClr val="1A365D"/>
              </a:solidFill>
            </a:endParaRPr>
          </a:p>
        </p:txBody>
      </p:sp>
      <p:sp>
        <p:nvSpPr>
          <p:cNvPr id="66" name="Google Shape;66;p14"/>
          <p:cNvSpPr txBox="1"/>
          <p:nvPr/>
        </p:nvSpPr>
        <p:spPr>
          <a:xfrm>
            <a:off x="3302000" y="1968500"/>
            <a:ext cx="1905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182CE"/>
                </a:solidFill>
              </a:rPr>
              <a:t>Data Modeling &amp; SQL</a:t>
            </a:r>
            <a:endParaRPr sz="1600">
              <a:solidFill>
                <a:srgbClr val="3182CE"/>
              </a:solidFill>
            </a:endParaRPr>
          </a:p>
        </p:txBody>
      </p:sp>
      <p:sp>
        <p:nvSpPr>
          <p:cNvPr id="67" name="Google Shape;67;p14"/>
          <p:cNvSpPr txBox="1"/>
          <p:nvPr/>
        </p:nvSpPr>
        <p:spPr>
          <a:xfrm>
            <a:off x="5334000" y="1968500"/>
            <a:ext cx="342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718096"/>
                </a:solidFill>
              </a:rPr>
              <a:t>RDS schema, SQL queries &amp; views</a:t>
            </a:r>
            <a:endParaRPr>
              <a:solidFill>
                <a:srgbClr val="718096"/>
              </a:solidFill>
            </a:endParaRPr>
          </a:p>
        </p:txBody>
      </p:sp>
      <p:sp>
        <p:nvSpPr>
          <p:cNvPr id="68" name="Google Shape;68;p14"/>
          <p:cNvSpPr txBox="1"/>
          <p:nvPr/>
        </p:nvSpPr>
        <p:spPr>
          <a:xfrm>
            <a:off x="635000" y="2667000"/>
            <a:ext cx="2540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A365D"/>
                </a:solidFill>
              </a:rPr>
              <a:t>Qi Han</a:t>
            </a:r>
            <a:endParaRPr b="1" sz="1800">
              <a:solidFill>
                <a:srgbClr val="1A365D"/>
              </a:solidFill>
            </a:endParaRPr>
          </a:p>
        </p:txBody>
      </p:sp>
      <p:sp>
        <p:nvSpPr>
          <p:cNvPr id="69" name="Google Shape;69;p14"/>
          <p:cNvSpPr txBox="1"/>
          <p:nvPr/>
        </p:nvSpPr>
        <p:spPr>
          <a:xfrm>
            <a:off x="3302000" y="2667000"/>
            <a:ext cx="1905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182CE"/>
                </a:solidFill>
              </a:rPr>
              <a:t>BI &amp; Dashboards</a:t>
            </a:r>
            <a:endParaRPr sz="1600">
              <a:solidFill>
                <a:srgbClr val="3182CE"/>
              </a:solidFill>
            </a:endParaRPr>
          </a:p>
        </p:txBody>
      </p:sp>
      <p:sp>
        <p:nvSpPr>
          <p:cNvPr id="70" name="Google Shape;70;p14"/>
          <p:cNvSpPr txBox="1"/>
          <p:nvPr/>
        </p:nvSpPr>
        <p:spPr>
          <a:xfrm>
            <a:off x="5334000" y="2667000"/>
            <a:ext cx="342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718096"/>
                </a:solidFill>
              </a:rPr>
              <a:t>QuickSight visuals &amp; storytelling</a:t>
            </a:r>
            <a:endParaRPr>
              <a:solidFill>
                <a:srgbClr val="71809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descr="Beautify this slide" id="75" name="Google Shape;75;p1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Beautify this slide" id="80" name="Google Shape;80;p16"/>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descr="Beautify this slide" id="85" name="Google Shape;85;p1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descr="Beautify this slide" id="90" name="Google Shape;90;p18"/>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9"/>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Architecture Overview</a:t>
            </a:r>
            <a:endParaRPr b="1" sz="2800">
              <a:solidFill>
                <a:srgbClr val="FFFFFF"/>
              </a:solidFill>
            </a:endParaRPr>
          </a:p>
        </p:txBody>
      </p:sp>
      <p:pic>
        <p:nvPicPr>
          <p:cNvPr id="97" name="Google Shape;97;p19" title="Toronto_Bicycle_Thefts_Data_Architecture.jpg"/>
          <p:cNvPicPr preferRelativeResize="0"/>
          <p:nvPr/>
        </p:nvPicPr>
        <p:blipFill>
          <a:blip r:embed="rId3">
            <a:alphaModFix/>
          </a:blip>
          <a:stretch>
            <a:fillRect/>
          </a:stretch>
        </p:blipFill>
        <p:spPr>
          <a:xfrm>
            <a:off x="616475" y="1029025"/>
            <a:ext cx="7911048" cy="3949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Beautify this slide" id="102" name="Google Shape;102;p20"/>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152400" y="152400"/>
            <a:ext cx="8839199" cy="3954136"/>
          </a:xfrm>
          <a:prstGeom prst="rect">
            <a:avLst/>
          </a:prstGeom>
          <a:noFill/>
          <a:ln>
            <a:noFill/>
          </a:ln>
        </p:spPr>
      </p:pic>
      <p:sp>
        <p:nvSpPr>
          <p:cNvPr id="108" name="Google Shape;108;p21"/>
          <p:cNvSpPr txBox="1"/>
          <p:nvPr/>
        </p:nvSpPr>
        <p:spPr>
          <a:xfrm>
            <a:off x="65250" y="4137000"/>
            <a:ext cx="91440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t>This screenshot shows the EC2 instance (bicycle-theft-ec2-v2) that hosts our data processing stack. It is a t3.xlarge instance in us-east-1 with public IP 107.20.24.237 and IAM role EC2-BicycleTheft-S3Role. On this machine we installed Java, Kafka, ZooKeeper and Python, and we run the Kafka producer and consumer ETL scripts that read the raw bicycle theft CSV, stream it through Kafka, clean it with pandas, and upload the cleaned dataset to S3.</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Beautify this slide" id="113" name="Google Shape;113;p22"/>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Beautify this slide" id="118" name="Google Shape;118;p2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4"/>
          <p:cNvPicPr preferRelativeResize="0"/>
          <p:nvPr/>
        </p:nvPicPr>
        <p:blipFill>
          <a:blip r:embed="rId3">
            <a:alphaModFix/>
          </a:blip>
          <a:stretch>
            <a:fillRect/>
          </a:stretch>
        </p:blipFill>
        <p:spPr>
          <a:xfrm>
            <a:off x="152400" y="152400"/>
            <a:ext cx="8839201" cy="3400849"/>
          </a:xfrm>
          <a:prstGeom prst="rect">
            <a:avLst/>
          </a:prstGeom>
          <a:noFill/>
          <a:ln>
            <a:noFill/>
          </a:ln>
        </p:spPr>
      </p:pic>
      <p:sp>
        <p:nvSpPr>
          <p:cNvPr id="124" name="Google Shape;124;p24"/>
          <p:cNvSpPr txBox="1"/>
          <p:nvPr/>
        </p:nvSpPr>
        <p:spPr>
          <a:xfrm>
            <a:off x="152400" y="3896900"/>
            <a:ext cx="8839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Raw Toronto Bicycle Thefts dataset loaded in pandas</a:t>
            </a:r>
            <a:endParaRPr b="1" sz="1200">
              <a:solidFill>
                <a:schemeClr val="dk1"/>
              </a:solidFill>
            </a:endParaRPr>
          </a:p>
          <a:p>
            <a:pPr indent="0" lvl="0" marL="0" rtl="0" algn="l">
              <a:spcBef>
                <a:spcPts val="0"/>
              </a:spcBef>
              <a:spcAft>
                <a:spcPts val="0"/>
              </a:spcAft>
              <a:buNone/>
            </a:pPr>
            <a:r>
              <a:rPr lang="en" sz="1200">
                <a:solidFill>
                  <a:schemeClr val="dk1"/>
                </a:solidFill>
              </a:rPr>
              <a:t>This cell shows the initial load of the </a:t>
            </a:r>
            <a:r>
              <a:rPr lang="en" sz="1200">
                <a:solidFill>
                  <a:srgbClr val="188038"/>
                </a:solidFill>
                <a:latin typeface="Roboto Mono"/>
                <a:ea typeface="Roboto Mono"/>
                <a:cs typeface="Roboto Mono"/>
                <a:sym typeface="Roboto Mono"/>
              </a:rPr>
              <a:t>bicycle-thefts-4326.csv</a:t>
            </a:r>
            <a:r>
              <a:rPr lang="en" sz="1200">
                <a:solidFill>
                  <a:schemeClr val="dk1"/>
                </a:solidFill>
              </a:rPr>
              <a:t> file into a pandas DataFrame. The raw dataset has </a:t>
            </a:r>
            <a:r>
              <a:rPr b="1" lang="en" sz="1200">
                <a:solidFill>
                  <a:schemeClr val="dk1"/>
                </a:solidFill>
              </a:rPr>
              <a:t>39,473 rows and 30 columns</a:t>
            </a:r>
            <a:r>
              <a:rPr lang="en" sz="1200">
                <a:solidFill>
                  <a:schemeClr val="dk1"/>
                </a:solidFill>
              </a:rPr>
              <a:t>, including event details, dates, location context, bike attributes and geospatial fields. At this stage we can already see issues such as mixed data types and missing values in fields like </a:t>
            </a:r>
            <a:r>
              <a:rPr lang="en" sz="1200">
                <a:solidFill>
                  <a:srgbClr val="188038"/>
                </a:solidFill>
                <a:latin typeface="Roboto Mono"/>
                <a:ea typeface="Roboto Mono"/>
                <a:cs typeface="Roboto Mono"/>
                <a:sym typeface="Roboto Mono"/>
              </a:rPr>
              <a:t>BIKE_TYPE</a:t>
            </a:r>
            <a:r>
              <a:rPr lang="en" sz="1200">
                <a:solidFill>
                  <a:schemeClr val="dk1"/>
                </a:solidFill>
              </a:rPr>
              <a:t> and </a:t>
            </a:r>
            <a:r>
              <a:rPr lang="en" sz="1200">
                <a:solidFill>
                  <a:srgbClr val="188038"/>
                </a:solidFill>
                <a:latin typeface="Roboto Mono"/>
                <a:ea typeface="Roboto Mono"/>
                <a:cs typeface="Roboto Mono"/>
                <a:sym typeface="Roboto Mono"/>
              </a:rPr>
              <a:t>BIKE_COST</a:t>
            </a:r>
            <a:r>
              <a:rPr lang="en" sz="1200">
                <a:solidFill>
                  <a:schemeClr val="dk1"/>
                </a:solidFill>
              </a:rPr>
              <a:t>, which motivates the subsequent cleaning and standardization steps in our ETL pipeline.</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5"/>
          <p:cNvPicPr preferRelativeResize="0"/>
          <p:nvPr/>
        </p:nvPicPr>
        <p:blipFill>
          <a:blip r:embed="rId3">
            <a:alphaModFix/>
          </a:blip>
          <a:stretch>
            <a:fillRect/>
          </a:stretch>
        </p:blipFill>
        <p:spPr>
          <a:xfrm>
            <a:off x="152400" y="152400"/>
            <a:ext cx="8839202" cy="3352350"/>
          </a:xfrm>
          <a:prstGeom prst="rect">
            <a:avLst/>
          </a:prstGeom>
          <a:noFill/>
          <a:ln>
            <a:noFill/>
          </a:ln>
        </p:spPr>
      </p:pic>
      <p:sp>
        <p:nvSpPr>
          <p:cNvPr id="130" name="Google Shape;130;p25"/>
          <p:cNvSpPr txBox="1"/>
          <p:nvPr/>
        </p:nvSpPr>
        <p:spPr>
          <a:xfrm>
            <a:off x="264000" y="3795350"/>
            <a:ext cx="872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S</a:t>
            </a:r>
            <a:r>
              <a:rPr b="1" lang="en" sz="1200">
                <a:solidFill>
                  <a:schemeClr val="dk1"/>
                </a:solidFill>
              </a:rPr>
              <a:t>tandardizing column names for consistent downstream processing</a:t>
            </a:r>
            <a:endParaRPr b="1" sz="1200">
              <a:solidFill>
                <a:schemeClr val="dk1"/>
              </a:solidFill>
            </a:endParaRPr>
          </a:p>
          <a:p>
            <a:pPr indent="0" lvl="0" marL="0" rtl="0" algn="l">
              <a:spcBef>
                <a:spcPts val="0"/>
              </a:spcBef>
              <a:spcAft>
                <a:spcPts val="0"/>
              </a:spcAft>
              <a:buNone/>
            </a:pPr>
            <a:r>
              <a:rPr lang="en" sz="1200">
                <a:solidFill>
                  <a:schemeClr val="dk1"/>
                </a:solidFill>
              </a:rPr>
              <a:t>In this step I inspect the original column names from the raw CSV and then standardize them by converting everything to lowercase, stripping extra spaces, and replacing spaces with underscores (e.g., </a:t>
            </a:r>
            <a:r>
              <a:rPr lang="en" sz="1200">
                <a:solidFill>
                  <a:srgbClr val="188038"/>
                </a:solidFill>
                <a:latin typeface="Roboto Mono"/>
                <a:ea typeface="Roboto Mono"/>
                <a:cs typeface="Roboto Mono"/>
                <a:sym typeface="Roboto Mono"/>
              </a:rPr>
              <a:t>OCC_DATE</a:t>
            </a:r>
            <a:r>
              <a:rPr lang="en" sz="1200">
                <a:solidFill>
                  <a:schemeClr val="dk1"/>
                </a:solidFill>
              </a:rPr>
              <a:t> → </a:t>
            </a:r>
            <a:r>
              <a:rPr lang="en" sz="1200">
                <a:solidFill>
                  <a:srgbClr val="188038"/>
                </a:solidFill>
                <a:latin typeface="Roboto Mono"/>
                <a:ea typeface="Roboto Mono"/>
                <a:cs typeface="Roboto Mono"/>
                <a:sym typeface="Roboto Mono"/>
              </a:rPr>
              <a:t>occ_date</a:t>
            </a:r>
            <a:r>
              <a:rPr lang="en" sz="1200">
                <a:solidFill>
                  <a:schemeClr val="dk1"/>
                </a:solidFill>
              </a:rPr>
              <a:t>, </a:t>
            </a:r>
            <a:r>
              <a:rPr lang="en" sz="1200">
                <a:solidFill>
                  <a:srgbClr val="188038"/>
                </a:solidFill>
                <a:latin typeface="Roboto Mono"/>
                <a:ea typeface="Roboto Mono"/>
                <a:cs typeface="Roboto Mono"/>
                <a:sym typeface="Roboto Mono"/>
              </a:rPr>
              <a:t>REPORT_YEAR</a:t>
            </a:r>
            <a:r>
              <a:rPr lang="en" sz="1200">
                <a:solidFill>
                  <a:schemeClr val="dk1"/>
                </a:solidFill>
              </a:rPr>
              <a:t> → </a:t>
            </a:r>
            <a:r>
              <a:rPr lang="en" sz="1200">
                <a:solidFill>
                  <a:srgbClr val="188038"/>
                </a:solidFill>
                <a:latin typeface="Roboto Mono"/>
                <a:ea typeface="Roboto Mono"/>
                <a:cs typeface="Roboto Mono"/>
                <a:sym typeface="Roboto Mono"/>
              </a:rPr>
              <a:t>report_year</a:t>
            </a:r>
            <a:r>
              <a:rPr lang="en" sz="1200">
                <a:solidFill>
                  <a:schemeClr val="dk1"/>
                </a:solidFill>
              </a:rPr>
              <a:t>). Having clean, consistent column names makes it much easier to write SQL, build views in MySQL, and reference fields later in the Kafka ETL code and QuickSight dashboards.</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6"/>
          <p:cNvPicPr preferRelativeResize="0"/>
          <p:nvPr/>
        </p:nvPicPr>
        <p:blipFill>
          <a:blip r:embed="rId3">
            <a:alphaModFix/>
          </a:blip>
          <a:stretch>
            <a:fillRect/>
          </a:stretch>
        </p:blipFill>
        <p:spPr>
          <a:xfrm>
            <a:off x="152400" y="152400"/>
            <a:ext cx="8839199" cy="3701793"/>
          </a:xfrm>
          <a:prstGeom prst="rect">
            <a:avLst/>
          </a:prstGeom>
          <a:noFill/>
          <a:ln>
            <a:noFill/>
          </a:ln>
        </p:spPr>
      </p:pic>
      <p:sp>
        <p:nvSpPr>
          <p:cNvPr id="136" name="Google Shape;136;p26"/>
          <p:cNvSpPr txBox="1"/>
          <p:nvPr/>
        </p:nvSpPr>
        <p:spPr>
          <a:xfrm>
            <a:off x="152400" y="3925125"/>
            <a:ext cx="8991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Converting raw date strings into proper datetime fields</a:t>
            </a:r>
            <a:endParaRPr b="1" sz="1200">
              <a:solidFill>
                <a:schemeClr val="dk1"/>
              </a:solidFill>
            </a:endParaRPr>
          </a:p>
          <a:p>
            <a:pPr indent="0" lvl="0" marL="0" rtl="0" algn="l">
              <a:spcBef>
                <a:spcPts val="0"/>
              </a:spcBef>
              <a:spcAft>
                <a:spcPts val="0"/>
              </a:spcAft>
              <a:buNone/>
            </a:pPr>
            <a:r>
              <a:rPr lang="en" sz="1200">
                <a:solidFill>
                  <a:schemeClr val="dk1"/>
                </a:solidFill>
              </a:rPr>
              <a:t>Here I define a helper function </a:t>
            </a:r>
            <a:r>
              <a:rPr lang="en" sz="1200">
                <a:solidFill>
                  <a:srgbClr val="188038"/>
                </a:solidFill>
                <a:latin typeface="Roboto Mono"/>
                <a:ea typeface="Roboto Mono"/>
                <a:cs typeface="Roboto Mono"/>
                <a:sym typeface="Roboto Mono"/>
              </a:rPr>
              <a:t>parse_date_safe</a:t>
            </a:r>
            <a:r>
              <a:rPr lang="en" sz="1200">
                <a:solidFill>
                  <a:schemeClr val="dk1"/>
                </a:solidFill>
              </a:rPr>
              <a:t> that safely converts raw date strings into pandas </a:t>
            </a:r>
            <a:r>
              <a:rPr lang="en" sz="1200">
                <a:solidFill>
                  <a:srgbClr val="188038"/>
                </a:solidFill>
                <a:latin typeface="Roboto Mono"/>
                <a:ea typeface="Roboto Mono"/>
                <a:cs typeface="Roboto Mono"/>
                <a:sym typeface="Roboto Mono"/>
              </a:rPr>
              <a:t>datetime</a:t>
            </a:r>
            <a:r>
              <a:rPr lang="en" sz="1200">
                <a:solidFill>
                  <a:schemeClr val="dk1"/>
                </a:solidFill>
              </a:rPr>
              <a:t> objects and returns </a:t>
            </a:r>
            <a:r>
              <a:rPr lang="en" sz="1200">
                <a:solidFill>
                  <a:srgbClr val="188038"/>
                </a:solidFill>
                <a:latin typeface="Roboto Mono"/>
                <a:ea typeface="Roboto Mono"/>
                <a:cs typeface="Roboto Mono"/>
                <a:sym typeface="Roboto Mono"/>
              </a:rPr>
              <a:t>NaT</a:t>
            </a:r>
            <a:r>
              <a:rPr lang="en" sz="1200">
                <a:solidFill>
                  <a:schemeClr val="dk1"/>
                </a:solidFill>
              </a:rPr>
              <a:t> for any invalid or missing values. I then apply this function to the two key date columns, </a:t>
            </a:r>
            <a:r>
              <a:rPr lang="en" sz="1200">
                <a:solidFill>
                  <a:srgbClr val="188038"/>
                </a:solidFill>
                <a:latin typeface="Roboto Mono"/>
                <a:ea typeface="Roboto Mono"/>
                <a:cs typeface="Roboto Mono"/>
                <a:sym typeface="Roboto Mono"/>
              </a:rPr>
              <a:t>occ_date</a:t>
            </a:r>
            <a:r>
              <a:rPr lang="en" sz="1200">
                <a:solidFill>
                  <a:schemeClr val="dk1"/>
                </a:solidFill>
              </a:rPr>
              <a:t> and </a:t>
            </a:r>
            <a:r>
              <a:rPr lang="en" sz="1200">
                <a:solidFill>
                  <a:srgbClr val="188038"/>
                </a:solidFill>
                <a:latin typeface="Roboto Mono"/>
                <a:ea typeface="Roboto Mono"/>
                <a:cs typeface="Roboto Mono"/>
                <a:sym typeface="Roboto Mono"/>
              </a:rPr>
              <a:t>report_date</a:t>
            </a:r>
            <a:r>
              <a:rPr lang="en" sz="1200">
                <a:solidFill>
                  <a:schemeClr val="dk1"/>
                </a:solidFill>
              </a:rPr>
              <a:t>. The output shows that both columns are now stored as </a:t>
            </a:r>
            <a:r>
              <a:rPr lang="en" sz="1200">
                <a:solidFill>
                  <a:srgbClr val="188038"/>
                </a:solidFill>
                <a:latin typeface="Roboto Mono"/>
                <a:ea typeface="Roboto Mono"/>
                <a:cs typeface="Roboto Mono"/>
                <a:sym typeface="Roboto Mono"/>
              </a:rPr>
              <a:t>datetime64</a:t>
            </a:r>
            <a:r>
              <a:rPr lang="en" sz="1200">
                <a:solidFill>
                  <a:schemeClr val="dk1"/>
                </a:solidFill>
              </a:rPr>
              <a:t> and the preview confirms that the dates are parsed correctly, which is important for doing time-series analysis (by year, month, day, or hour) later in SQL and QuickSight.</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7"/>
          <p:cNvPicPr preferRelativeResize="0"/>
          <p:nvPr/>
        </p:nvPicPr>
        <p:blipFill>
          <a:blip r:embed="rId3">
            <a:alphaModFix/>
          </a:blip>
          <a:stretch>
            <a:fillRect/>
          </a:stretch>
        </p:blipFill>
        <p:spPr>
          <a:xfrm>
            <a:off x="152400" y="61700"/>
            <a:ext cx="8839203" cy="3676580"/>
          </a:xfrm>
          <a:prstGeom prst="rect">
            <a:avLst/>
          </a:prstGeom>
          <a:noFill/>
          <a:ln>
            <a:noFill/>
          </a:ln>
        </p:spPr>
      </p:pic>
      <p:sp>
        <p:nvSpPr>
          <p:cNvPr id="142" name="Google Shape;142;p27"/>
          <p:cNvSpPr txBox="1"/>
          <p:nvPr/>
        </p:nvSpPr>
        <p:spPr>
          <a:xfrm>
            <a:off x="152400" y="3809300"/>
            <a:ext cx="8991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Converting key fields to numeric types</a:t>
            </a:r>
            <a:endParaRPr b="1" sz="1200">
              <a:solidFill>
                <a:schemeClr val="dk1"/>
              </a:solidFill>
            </a:endParaRPr>
          </a:p>
          <a:p>
            <a:pPr indent="0" lvl="0" marL="0" rtl="0" algn="l">
              <a:spcBef>
                <a:spcPts val="0"/>
              </a:spcBef>
              <a:spcAft>
                <a:spcPts val="0"/>
              </a:spcAft>
              <a:buNone/>
            </a:pPr>
            <a:r>
              <a:rPr lang="en" sz="1200">
                <a:solidFill>
                  <a:schemeClr val="dk1"/>
                </a:solidFill>
              </a:rPr>
              <a:t>In this step I define a list of columns that should contain numeric values (years, day-of-week indexes, hours, bike speed/cost, and latitude/longitude). I then loop through this list and use </a:t>
            </a:r>
            <a:r>
              <a:rPr lang="en" sz="1200">
                <a:solidFill>
                  <a:srgbClr val="188038"/>
                </a:solidFill>
                <a:latin typeface="Roboto Mono"/>
                <a:ea typeface="Roboto Mono"/>
                <a:cs typeface="Roboto Mono"/>
                <a:sym typeface="Roboto Mono"/>
              </a:rPr>
              <a:t>pd.to_numeric(..., errors="coerce")</a:t>
            </a:r>
            <a:r>
              <a:rPr lang="en" sz="1200">
                <a:solidFill>
                  <a:schemeClr val="dk1"/>
                </a:solidFill>
              </a:rPr>
              <a:t> to force each column into a numeric type, converting any invalid values to </a:t>
            </a:r>
            <a:r>
              <a:rPr lang="en" sz="1200">
                <a:solidFill>
                  <a:srgbClr val="188038"/>
                </a:solidFill>
                <a:latin typeface="Roboto Mono"/>
                <a:ea typeface="Roboto Mono"/>
                <a:cs typeface="Roboto Mono"/>
                <a:sym typeface="Roboto Mono"/>
              </a:rPr>
              <a:t>NaN</a:t>
            </a:r>
            <a:r>
              <a:rPr lang="en" sz="1200">
                <a:solidFill>
                  <a:schemeClr val="dk1"/>
                </a:solidFill>
              </a:rPr>
              <a:t>. The dtype summary at the bottom confirms that these fields are now stored as </a:t>
            </a:r>
            <a:r>
              <a:rPr lang="en" sz="1200">
                <a:solidFill>
                  <a:srgbClr val="188038"/>
                </a:solidFill>
                <a:latin typeface="Roboto Mono"/>
                <a:ea typeface="Roboto Mono"/>
                <a:cs typeface="Roboto Mono"/>
                <a:sym typeface="Roboto Mono"/>
              </a:rPr>
              <a:t>int64</a:t>
            </a:r>
            <a:r>
              <a:rPr lang="en" sz="1200">
                <a:solidFill>
                  <a:schemeClr val="dk1"/>
                </a:solidFill>
              </a:rPr>
              <a:t> or </a:t>
            </a:r>
            <a:r>
              <a:rPr lang="en" sz="1200">
                <a:solidFill>
                  <a:srgbClr val="188038"/>
                </a:solidFill>
                <a:latin typeface="Roboto Mono"/>
                <a:ea typeface="Roboto Mono"/>
                <a:cs typeface="Roboto Mono"/>
                <a:sym typeface="Roboto Mono"/>
              </a:rPr>
              <a:t>float64</a:t>
            </a:r>
            <a:r>
              <a:rPr lang="en" sz="1200">
                <a:solidFill>
                  <a:schemeClr val="dk1"/>
                </a:solidFill>
              </a:rPr>
              <a:t>, which is required for reliable aggregations, statistics, and mapping in MySQL and QuickSight.</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8"/>
          <p:cNvPicPr preferRelativeResize="0"/>
          <p:nvPr/>
        </p:nvPicPr>
        <p:blipFill>
          <a:blip r:embed="rId3">
            <a:alphaModFix/>
          </a:blip>
          <a:stretch>
            <a:fillRect/>
          </a:stretch>
        </p:blipFill>
        <p:spPr>
          <a:xfrm>
            <a:off x="90325" y="50900"/>
            <a:ext cx="8935424" cy="3768951"/>
          </a:xfrm>
          <a:prstGeom prst="rect">
            <a:avLst/>
          </a:prstGeom>
          <a:noFill/>
          <a:ln>
            <a:noFill/>
          </a:ln>
        </p:spPr>
      </p:pic>
      <p:sp>
        <p:nvSpPr>
          <p:cNvPr id="148" name="Google Shape;148;p28"/>
          <p:cNvSpPr txBox="1"/>
          <p:nvPr/>
        </p:nvSpPr>
        <p:spPr>
          <a:xfrm>
            <a:off x="90325" y="3897625"/>
            <a:ext cx="8883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Standardizing text columns for consistent analysis</a:t>
            </a:r>
            <a:endParaRPr b="1" sz="1100">
              <a:solidFill>
                <a:schemeClr val="dk1"/>
              </a:solidFill>
            </a:endParaRPr>
          </a:p>
          <a:p>
            <a:pPr indent="0" lvl="0" marL="0" rtl="0" algn="l">
              <a:spcBef>
                <a:spcPts val="0"/>
              </a:spcBef>
              <a:spcAft>
                <a:spcPts val="0"/>
              </a:spcAft>
              <a:buNone/>
            </a:pPr>
            <a:r>
              <a:rPr lang="en" sz="1100">
                <a:solidFill>
                  <a:schemeClr val="dk1"/>
                </a:solidFill>
              </a:rPr>
              <a:t>Here I define a list of all categorical/text columns (offence details, dates as words, division, location and premises type, bike make/model/type/colour, and status). For each of these columns I convert the values to string, strip extra spaces, and convert everything to uppercase. The preview at the bottom shows the cleaned text (e.g., months and days in uppercase and without trailing spaces). This makes grouping, filtering, and joining in MySQL and QuickSight much more reliable and avoids issues caused by inconsistent spelling or casing.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9"/>
          <p:cNvPicPr preferRelativeResize="0"/>
          <p:nvPr/>
        </p:nvPicPr>
        <p:blipFill>
          <a:blip r:embed="rId3">
            <a:alphaModFix/>
          </a:blip>
          <a:stretch>
            <a:fillRect/>
          </a:stretch>
        </p:blipFill>
        <p:spPr>
          <a:xfrm>
            <a:off x="152400" y="71925"/>
            <a:ext cx="8839202" cy="4048573"/>
          </a:xfrm>
          <a:prstGeom prst="rect">
            <a:avLst/>
          </a:prstGeom>
          <a:noFill/>
          <a:ln>
            <a:noFill/>
          </a:ln>
        </p:spPr>
      </p:pic>
      <p:sp>
        <p:nvSpPr>
          <p:cNvPr id="154" name="Google Shape;154;p29"/>
          <p:cNvSpPr txBox="1"/>
          <p:nvPr/>
        </p:nvSpPr>
        <p:spPr>
          <a:xfrm>
            <a:off x="152400" y="4036100"/>
            <a:ext cx="88392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Removing rows with missing key fields and duplicates</a:t>
            </a:r>
            <a:endParaRPr b="1" sz="1100">
              <a:solidFill>
                <a:schemeClr val="dk1"/>
              </a:solidFill>
            </a:endParaRPr>
          </a:p>
          <a:p>
            <a:pPr indent="0" lvl="0" marL="0" rtl="0" algn="l">
              <a:spcBef>
                <a:spcPts val="0"/>
              </a:spcBef>
              <a:spcAft>
                <a:spcPts val="0"/>
              </a:spcAft>
              <a:buNone/>
            </a:pPr>
            <a:r>
              <a:rPr lang="en" sz="1100">
                <a:solidFill>
                  <a:schemeClr val="dk1"/>
                </a:solidFill>
              </a:rPr>
              <a:t>In this step I first check how many missing values we have in the critical columns </a:t>
            </a:r>
            <a:r>
              <a:rPr lang="en" sz="1100">
                <a:solidFill>
                  <a:srgbClr val="188038"/>
                </a:solidFill>
                <a:latin typeface="Roboto Mono"/>
                <a:ea typeface="Roboto Mono"/>
                <a:cs typeface="Roboto Mono"/>
                <a:sym typeface="Roboto Mono"/>
              </a:rPr>
              <a:t>occ_date</a:t>
            </a:r>
            <a:r>
              <a:rPr lang="en" sz="1100">
                <a:solidFill>
                  <a:schemeClr val="dk1"/>
                </a:solidFill>
              </a:rPr>
              <a:t>, </a:t>
            </a:r>
            <a:r>
              <a:rPr lang="en" sz="1100">
                <a:solidFill>
                  <a:srgbClr val="188038"/>
                </a:solidFill>
                <a:latin typeface="Roboto Mono"/>
                <a:ea typeface="Roboto Mono"/>
                <a:cs typeface="Roboto Mono"/>
                <a:sym typeface="Roboto Mono"/>
              </a:rPr>
              <a:t>lat_wgs84</a:t>
            </a:r>
            <a:r>
              <a:rPr lang="en" sz="1100">
                <a:solidFill>
                  <a:schemeClr val="dk1"/>
                </a:solidFill>
              </a:rPr>
              <a:t>, and </a:t>
            </a:r>
            <a:r>
              <a:rPr lang="en" sz="1100">
                <a:solidFill>
                  <a:srgbClr val="188038"/>
                </a:solidFill>
                <a:latin typeface="Roboto Mono"/>
                <a:ea typeface="Roboto Mono"/>
                <a:cs typeface="Roboto Mono"/>
                <a:sym typeface="Roboto Mono"/>
              </a:rPr>
              <a:t>long_wgs84</a:t>
            </a:r>
            <a:r>
              <a:rPr lang="en" sz="1100">
                <a:solidFill>
                  <a:schemeClr val="dk1"/>
                </a:solidFill>
              </a:rPr>
              <a:t>. Then I drop any rows that do not have an occurrence date or valid latitude/longitude, because those records cannot be used for time-based or map-based analysis. After that I remove the </a:t>
            </a:r>
            <a:r>
              <a:rPr lang="en" sz="1100">
                <a:solidFill>
                  <a:srgbClr val="188038"/>
                </a:solidFill>
                <a:latin typeface="Roboto Mono"/>
                <a:ea typeface="Roboto Mono"/>
                <a:cs typeface="Roboto Mono"/>
                <a:sym typeface="Roboto Mono"/>
              </a:rPr>
              <a:t>geometry</a:t>
            </a:r>
            <a:r>
              <a:rPr lang="en" sz="1100">
                <a:solidFill>
                  <a:schemeClr val="dk1"/>
                </a:solidFill>
              </a:rPr>
              <a:t> column (it stores the same location in a complex JSON format, which we don’t need once we have clean lat/long) and call </a:t>
            </a:r>
            <a:r>
              <a:rPr lang="en" sz="1100">
                <a:solidFill>
                  <a:srgbClr val="188038"/>
                </a:solidFill>
                <a:latin typeface="Roboto Mono"/>
                <a:ea typeface="Roboto Mono"/>
                <a:cs typeface="Roboto Mono"/>
                <a:sym typeface="Roboto Mono"/>
              </a:rPr>
              <a:t>drop_duplicates()</a:t>
            </a:r>
            <a:r>
              <a:rPr lang="en" sz="1100">
                <a:solidFill>
                  <a:schemeClr val="dk1"/>
                </a:solidFill>
              </a:rPr>
              <a:t> to ensure that duplicate incidents are not counted twice. The printout at the bottom shows how many rows remain and confirms the final cleaned shape of the dataset.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Beautify this slide" id="159" name="Google Shape;159;p30"/>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31"/>
          <p:cNvPicPr preferRelativeResize="0"/>
          <p:nvPr/>
        </p:nvPicPr>
        <p:blipFill>
          <a:blip r:embed="rId3">
            <a:alphaModFix/>
          </a:blip>
          <a:stretch>
            <a:fillRect/>
          </a:stretch>
        </p:blipFill>
        <p:spPr>
          <a:xfrm>
            <a:off x="152400" y="152400"/>
            <a:ext cx="8839199" cy="3963353"/>
          </a:xfrm>
          <a:prstGeom prst="rect">
            <a:avLst/>
          </a:prstGeom>
          <a:noFill/>
          <a:ln>
            <a:noFill/>
          </a:ln>
        </p:spPr>
      </p:pic>
      <p:sp>
        <p:nvSpPr>
          <p:cNvPr id="165" name="Google Shape;165;p31"/>
          <p:cNvSpPr txBox="1"/>
          <p:nvPr/>
        </p:nvSpPr>
        <p:spPr>
          <a:xfrm>
            <a:off x="152400" y="4178025"/>
            <a:ext cx="8552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This screenshot shows the </a:t>
            </a:r>
            <a:r>
              <a:rPr lang="en" sz="1200">
                <a:solidFill>
                  <a:srgbClr val="188038"/>
                </a:solidFill>
                <a:latin typeface="Roboto Mono"/>
                <a:ea typeface="Roboto Mono"/>
                <a:cs typeface="Roboto Mono"/>
                <a:sym typeface="Roboto Mono"/>
              </a:rPr>
              <a:t>toronto-bicycle-thefts</a:t>
            </a:r>
            <a:r>
              <a:rPr lang="en" sz="1200">
                <a:solidFill>
                  <a:schemeClr val="dk1"/>
                </a:solidFill>
              </a:rPr>
              <a:t> S3 bucket, specifically the </a:t>
            </a:r>
            <a:r>
              <a:rPr lang="en" sz="1200">
                <a:solidFill>
                  <a:srgbClr val="188038"/>
                </a:solidFill>
                <a:latin typeface="Roboto Mono"/>
                <a:ea typeface="Roboto Mono"/>
                <a:cs typeface="Roboto Mono"/>
                <a:sym typeface="Roboto Mono"/>
              </a:rPr>
              <a:t>clean/</a:t>
            </a:r>
            <a:r>
              <a:rPr lang="en" sz="1200">
                <a:solidFill>
                  <a:schemeClr val="dk1"/>
                </a:solidFill>
              </a:rPr>
              <a:t> prefix that contains the processed file </a:t>
            </a:r>
            <a:r>
              <a:rPr lang="en" sz="1200">
                <a:solidFill>
                  <a:srgbClr val="188038"/>
                </a:solidFill>
                <a:latin typeface="Roboto Mono"/>
                <a:ea typeface="Roboto Mono"/>
                <a:cs typeface="Roboto Mono"/>
                <a:sym typeface="Roboto Mono"/>
              </a:rPr>
              <a:t>Bicycle_Thefts_cleaned.csv</a:t>
            </a:r>
            <a:r>
              <a:rPr lang="en" sz="1200">
                <a:solidFill>
                  <a:schemeClr val="dk1"/>
                </a:solidFill>
              </a:rPr>
              <a:t>. This object is the output of the Kafka consumer ETL job running on EC2. S3 acts as our data lake: the cleaned CSV in this location is shared with teammates (via bucket policy) so they can download it, load it into Amazon RDS MySQL, and use it as the source for SQL analysis and QuickSight dashboards.</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32"/>
          <p:cNvPicPr preferRelativeResize="0"/>
          <p:nvPr/>
        </p:nvPicPr>
        <p:blipFill>
          <a:blip r:embed="rId3">
            <a:alphaModFix/>
          </a:blip>
          <a:stretch>
            <a:fillRect/>
          </a:stretch>
        </p:blipFill>
        <p:spPr>
          <a:xfrm>
            <a:off x="152400" y="0"/>
            <a:ext cx="8839199" cy="3963353"/>
          </a:xfrm>
          <a:prstGeom prst="rect">
            <a:avLst/>
          </a:prstGeom>
          <a:noFill/>
          <a:ln>
            <a:noFill/>
          </a:ln>
        </p:spPr>
      </p:pic>
      <p:sp>
        <p:nvSpPr>
          <p:cNvPr id="171" name="Google Shape;171;p32"/>
          <p:cNvSpPr txBox="1"/>
          <p:nvPr/>
        </p:nvSpPr>
        <p:spPr>
          <a:xfrm>
            <a:off x="152400" y="3963350"/>
            <a:ext cx="8839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This screenshot shows the </a:t>
            </a:r>
            <a:r>
              <a:rPr lang="en" sz="1200">
                <a:solidFill>
                  <a:srgbClr val="188038"/>
                </a:solidFill>
                <a:latin typeface="Roboto Mono"/>
                <a:ea typeface="Roboto Mono"/>
                <a:cs typeface="Roboto Mono"/>
                <a:sym typeface="Roboto Mono"/>
              </a:rPr>
              <a:t>toronto-bicycle-thefts-database</a:t>
            </a:r>
            <a:r>
              <a:rPr lang="en" sz="1200">
                <a:solidFill>
                  <a:schemeClr val="dk1"/>
                </a:solidFill>
              </a:rPr>
              <a:t> Amazon RDS instance that we use as the relational analytics layer. The engine is </a:t>
            </a:r>
            <a:r>
              <a:rPr b="1" lang="en" sz="1200">
                <a:solidFill>
                  <a:schemeClr val="dk1"/>
                </a:solidFill>
              </a:rPr>
              <a:t>MySQL Community</a:t>
            </a:r>
            <a:r>
              <a:rPr lang="en" sz="1200">
                <a:solidFill>
                  <a:schemeClr val="dk1"/>
                </a:solidFill>
              </a:rPr>
              <a:t> (db.t3.micro) running in </a:t>
            </a:r>
            <a:r>
              <a:rPr lang="en" sz="1200">
                <a:solidFill>
                  <a:srgbClr val="188038"/>
                </a:solidFill>
                <a:latin typeface="Roboto Mono"/>
                <a:ea typeface="Roboto Mono"/>
                <a:cs typeface="Roboto Mono"/>
                <a:sym typeface="Roboto Mono"/>
              </a:rPr>
              <a:t>us-east-1d</a:t>
            </a:r>
            <a:r>
              <a:rPr lang="en" sz="1200">
                <a:solidFill>
                  <a:schemeClr val="dk1"/>
                </a:solidFill>
              </a:rPr>
              <a:t>, exposed on port </a:t>
            </a:r>
            <a:r>
              <a:rPr b="1" lang="en" sz="1200">
                <a:solidFill>
                  <a:schemeClr val="dk1"/>
                </a:solidFill>
              </a:rPr>
              <a:t>3306</a:t>
            </a:r>
            <a:r>
              <a:rPr lang="en" sz="1200">
                <a:solidFill>
                  <a:schemeClr val="dk1"/>
                </a:solidFill>
              </a:rPr>
              <a:t> with public access enabled so teammates can connect from MySQL Workbench and QuickSight. The endpoint shown here is used to load the cleaned CSV from S3 and create tables/views, and later used as the data source for building the Toronto bicycle theft dashboards.</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33"/>
          <p:cNvPicPr preferRelativeResize="0"/>
          <p:nvPr/>
        </p:nvPicPr>
        <p:blipFill>
          <a:blip r:embed="rId3">
            <a:alphaModFix/>
          </a:blip>
          <a:stretch>
            <a:fillRect/>
          </a:stretch>
        </p:blipFill>
        <p:spPr>
          <a:xfrm>
            <a:off x="152400" y="152400"/>
            <a:ext cx="8839199" cy="4193781"/>
          </a:xfrm>
          <a:prstGeom prst="rect">
            <a:avLst/>
          </a:prstGeom>
          <a:noFill/>
          <a:ln>
            <a:noFill/>
          </a:ln>
        </p:spPr>
      </p:pic>
      <p:sp>
        <p:nvSpPr>
          <p:cNvPr id="177" name="Google Shape;177;p33"/>
          <p:cNvSpPr txBox="1"/>
          <p:nvPr/>
        </p:nvSpPr>
        <p:spPr>
          <a:xfrm>
            <a:off x="288075" y="4404600"/>
            <a:ext cx="8254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In this step, I created an Amazon QuickSight account to build the dashboards for our project and added a data source that points directly to our RDS MySQL instance. Because QuickSight is natively integrated with RDS, connecting the database and starting to design charts, maps, and filters was straightforward and required almost no extra setup.</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4"/>
          <p:cNvPicPr preferRelativeResize="0"/>
          <p:nvPr/>
        </p:nvPicPr>
        <p:blipFill>
          <a:blip r:embed="rId3">
            <a:alphaModFix/>
          </a:blip>
          <a:stretch>
            <a:fillRect/>
          </a:stretch>
        </p:blipFill>
        <p:spPr>
          <a:xfrm>
            <a:off x="152400" y="78750"/>
            <a:ext cx="8839199" cy="4193781"/>
          </a:xfrm>
          <a:prstGeom prst="rect">
            <a:avLst/>
          </a:prstGeom>
          <a:noFill/>
          <a:ln>
            <a:noFill/>
          </a:ln>
        </p:spPr>
      </p:pic>
      <p:sp>
        <p:nvSpPr>
          <p:cNvPr id="183" name="Google Shape;183;p34"/>
          <p:cNvSpPr txBox="1"/>
          <p:nvPr/>
        </p:nvSpPr>
        <p:spPr>
          <a:xfrm>
            <a:off x="259800" y="4450800"/>
            <a:ext cx="8624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In QuickSight, I also configured access for my team. From </a:t>
            </a:r>
            <a:r>
              <a:rPr b="1" lang="en" sz="1100">
                <a:solidFill>
                  <a:schemeClr val="dk1"/>
                </a:solidFill>
              </a:rPr>
              <a:t>Manage account → Manage users</a:t>
            </a:r>
            <a:r>
              <a:rPr lang="en" sz="1100">
                <a:solidFill>
                  <a:schemeClr val="dk1"/>
                </a:solidFill>
              </a:rPr>
              <a:t>, I invited my teammate using their email and assigned them the </a:t>
            </a:r>
            <a:r>
              <a:rPr b="1" lang="en" sz="1100">
                <a:solidFill>
                  <a:schemeClr val="dk1"/>
                </a:solidFill>
              </a:rPr>
              <a:t>Author</a:t>
            </a:r>
            <a:r>
              <a:rPr lang="en" sz="1100">
                <a:solidFill>
                  <a:schemeClr val="dk1"/>
                </a:solidFill>
              </a:rPr>
              <a:t> role. This ensures they can log in, connect to the shared RDS data source, and independently build and edit the project dashboards while I keep admin control of the account.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700"/>
          </a:p>
        </p:txBody>
      </p:sp>
      <p:sp>
        <p:nvSpPr>
          <p:cNvPr id="189" name="Google Shape;189;p35"/>
          <p:cNvSpPr txBox="1"/>
          <p:nvPr/>
        </p:nvSpPr>
        <p:spPr>
          <a:xfrm>
            <a:off x="3429000" y="602400"/>
            <a:ext cx="533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90" name="Google Shape;190;p35"/>
          <p:cNvSpPr txBox="1"/>
          <p:nvPr/>
        </p:nvSpPr>
        <p:spPr>
          <a:xfrm>
            <a:off x="250225" y="185825"/>
            <a:ext cx="6385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lt1"/>
                </a:solidFill>
              </a:rPr>
              <a:t> SQL Analysis &amp; Database Design</a:t>
            </a:r>
            <a:endParaRPr sz="2800">
              <a:solidFill>
                <a:schemeClr val="lt1"/>
              </a:solidFill>
            </a:endParaRPr>
          </a:p>
        </p:txBody>
      </p:sp>
      <p:sp>
        <p:nvSpPr>
          <p:cNvPr id="191" name="Google Shape;191;p35"/>
          <p:cNvSpPr txBox="1"/>
          <p:nvPr/>
        </p:nvSpPr>
        <p:spPr>
          <a:xfrm>
            <a:off x="472650" y="1186275"/>
            <a:ext cx="54399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2"/>
              </a:buClr>
              <a:buSzPts val="1700"/>
              <a:buChar char="●"/>
            </a:pPr>
            <a:r>
              <a:rPr lang="en" sz="1700">
                <a:solidFill>
                  <a:schemeClr val="dk2"/>
                </a:solidFill>
              </a:rPr>
              <a:t>Connected to AWS RDS MySQL database</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Loaded 39,000+ bicycle theft records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Developed 15 analytical queries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Created 6 views + master table for dashboards</a:t>
            </a:r>
            <a:endParaRPr sz="1700">
              <a:solidFill>
                <a:schemeClr val="dk2"/>
              </a:solidFill>
            </a:endParaRPr>
          </a:p>
        </p:txBody>
      </p:sp>
      <p:pic>
        <p:nvPicPr>
          <p:cNvPr id="192" name="Google Shape;192;p35"/>
          <p:cNvPicPr preferRelativeResize="0"/>
          <p:nvPr/>
        </p:nvPicPr>
        <p:blipFill>
          <a:blip r:embed="rId3">
            <a:alphaModFix/>
          </a:blip>
          <a:stretch>
            <a:fillRect/>
          </a:stretch>
        </p:blipFill>
        <p:spPr>
          <a:xfrm>
            <a:off x="6147298" y="1064100"/>
            <a:ext cx="1283625" cy="4047800"/>
          </a:xfrm>
          <a:prstGeom prst="rect">
            <a:avLst/>
          </a:prstGeom>
          <a:noFill/>
          <a:ln>
            <a:noFill/>
          </a:ln>
        </p:spPr>
      </p:pic>
      <p:pic>
        <p:nvPicPr>
          <p:cNvPr id="193" name="Google Shape;193;p35" title="Screenshot 2025-12-08 at 1.39.47 PM.png"/>
          <p:cNvPicPr preferRelativeResize="0"/>
          <p:nvPr/>
        </p:nvPicPr>
        <p:blipFill>
          <a:blip r:embed="rId4">
            <a:alphaModFix/>
          </a:blip>
          <a:stretch>
            <a:fillRect/>
          </a:stretch>
        </p:blipFill>
        <p:spPr>
          <a:xfrm>
            <a:off x="971450" y="2525400"/>
            <a:ext cx="3921823" cy="24511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700"/>
          </a:p>
        </p:txBody>
      </p:sp>
      <p:sp>
        <p:nvSpPr>
          <p:cNvPr id="199" name="Google Shape;199;p36"/>
          <p:cNvSpPr txBox="1"/>
          <p:nvPr/>
        </p:nvSpPr>
        <p:spPr>
          <a:xfrm>
            <a:off x="556050" y="136650"/>
            <a:ext cx="7858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lt1"/>
                </a:solidFill>
              </a:rPr>
              <a:t>When Do Thefts Happen? - Temporal Analysis</a:t>
            </a:r>
            <a:endParaRPr sz="2800">
              <a:solidFill>
                <a:schemeClr val="lt1"/>
              </a:solidFill>
            </a:endParaRPr>
          </a:p>
        </p:txBody>
      </p:sp>
      <p:sp>
        <p:nvSpPr>
          <p:cNvPr id="200" name="Google Shape;200;p36"/>
          <p:cNvSpPr txBox="1"/>
          <p:nvPr/>
        </p:nvSpPr>
        <p:spPr>
          <a:xfrm>
            <a:off x="240950" y="1065775"/>
            <a:ext cx="4272300" cy="18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SQL Query: Analyzed theft trends over time</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Key Findings: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Peak Year:</a:t>
            </a:r>
            <a:r>
              <a:rPr lang="en" sz="1100">
                <a:solidFill>
                  <a:schemeClr val="dk1"/>
                </a:solidFill>
              </a:rPr>
              <a:t> 2018 with 3,956 thefts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2024 Trend:</a:t>
            </a:r>
            <a:r>
              <a:rPr lang="en" sz="1100">
                <a:solidFill>
                  <a:schemeClr val="dk1"/>
                </a:solidFill>
              </a:rPr>
              <a:t> Declining! Down 9.06% from 2023</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Peak Month:</a:t>
            </a:r>
            <a:r>
              <a:rPr lang="en" sz="1100">
                <a:solidFill>
                  <a:schemeClr val="dk1"/>
                </a:solidFill>
              </a:rPr>
              <a:t> July (5,996 thefts - summer cycling season)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Peak Hour:</a:t>
            </a:r>
            <a:r>
              <a:rPr lang="en" sz="1100">
                <a:solidFill>
                  <a:schemeClr val="dk1"/>
                </a:solidFill>
              </a:rPr>
              <a:t> 6pm (2,723 thefts - evening commute)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Highest Risk Period:</a:t>
            </a:r>
            <a:r>
              <a:rPr lang="en" sz="1100">
                <a:solidFill>
                  <a:schemeClr val="dk1"/>
                </a:solidFill>
              </a:rPr>
              <a:t> Evening (6pm-10pm)</a:t>
            </a:r>
            <a:endParaRPr sz="1800">
              <a:solidFill>
                <a:schemeClr val="dk2"/>
              </a:solidFill>
            </a:endParaRPr>
          </a:p>
        </p:txBody>
      </p:sp>
      <p:pic>
        <p:nvPicPr>
          <p:cNvPr id="201" name="Google Shape;201;p36" title="01_peak_theft_hours.png"/>
          <p:cNvPicPr preferRelativeResize="0"/>
          <p:nvPr/>
        </p:nvPicPr>
        <p:blipFill rotWithShape="1">
          <a:blip r:embed="rId3">
            <a:alphaModFix/>
          </a:blip>
          <a:srcRect b="0" l="0" r="40144" t="58333"/>
          <a:stretch/>
        </p:blipFill>
        <p:spPr>
          <a:xfrm>
            <a:off x="2246775" y="3349300"/>
            <a:ext cx="2025549" cy="1154749"/>
          </a:xfrm>
          <a:prstGeom prst="rect">
            <a:avLst/>
          </a:prstGeom>
          <a:noFill/>
          <a:ln>
            <a:noFill/>
          </a:ln>
        </p:spPr>
      </p:pic>
      <p:pic>
        <p:nvPicPr>
          <p:cNvPr id="202" name="Google Shape;202;p36" title="03_yearly_trends.png"/>
          <p:cNvPicPr preferRelativeResize="0"/>
          <p:nvPr/>
        </p:nvPicPr>
        <p:blipFill rotWithShape="1">
          <a:blip r:embed="rId4">
            <a:alphaModFix/>
          </a:blip>
          <a:srcRect b="0" l="0" r="58123" t="48218"/>
          <a:stretch/>
        </p:blipFill>
        <p:spPr>
          <a:xfrm>
            <a:off x="198750" y="3209300"/>
            <a:ext cx="1708325" cy="1358051"/>
          </a:xfrm>
          <a:prstGeom prst="rect">
            <a:avLst/>
          </a:prstGeom>
          <a:noFill/>
          <a:ln>
            <a:noFill/>
          </a:ln>
        </p:spPr>
      </p:pic>
      <p:pic>
        <p:nvPicPr>
          <p:cNvPr id="203" name="Google Shape;203;p36"/>
          <p:cNvPicPr preferRelativeResize="0"/>
          <p:nvPr/>
        </p:nvPicPr>
        <p:blipFill>
          <a:blip r:embed="rId5">
            <a:alphaModFix/>
          </a:blip>
          <a:stretch>
            <a:fillRect/>
          </a:stretch>
        </p:blipFill>
        <p:spPr>
          <a:xfrm>
            <a:off x="4656450" y="1634425"/>
            <a:ext cx="4138475" cy="1956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700"/>
          </a:p>
        </p:txBody>
      </p:sp>
      <p:sp>
        <p:nvSpPr>
          <p:cNvPr id="209" name="Google Shape;209;p37"/>
          <p:cNvSpPr txBox="1"/>
          <p:nvPr/>
        </p:nvSpPr>
        <p:spPr>
          <a:xfrm>
            <a:off x="342900" y="176075"/>
            <a:ext cx="86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lt1"/>
                </a:solidFill>
              </a:rPr>
              <a:t>Where Do Thefts Happen? - Geographic Analysis</a:t>
            </a:r>
            <a:endParaRPr sz="2800">
              <a:solidFill>
                <a:schemeClr val="lt1"/>
              </a:solidFill>
            </a:endParaRPr>
          </a:p>
        </p:txBody>
      </p:sp>
      <p:sp>
        <p:nvSpPr>
          <p:cNvPr id="210" name="Google Shape;210;p37"/>
          <p:cNvSpPr txBox="1"/>
          <p:nvPr/>
        </p:nvSpPr>
        <p:spPr>
          <a:xfrm>
            <a:off x="240950" y="1056500"/>
            <a:ext cx="5338200" cy="18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000">
                <a:solidFill>
                  <a:schemeClr val="dk1"/>
                </a:solidFill>
              </a:rPr>
              <a:t>SQL Query: Analyzed theft locations and recovery rates</a:t>
            </a:r>
            <a:endParaRPr b="1"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000">
                <a:solidFill>
                  <a:schemeClr val="dk1"/>
                </a:solidFill>
              </a:rPr>
              <a:t>Key Findings:</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Highest Risk:</a:t>
            </a:r>
            <a:r>
              <a:rPr lang="en" sz="1000">
                <a:solidFill>
                  <a:schemeClr val="dk1"/>
                </a:solidFill>
              </a:rPr>
              <a:t> Outside/Street parking (29.40% of all thefts)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Second Highest:</a:t>
            </a:r>
            <a:r>
              <a:rPr lang="en" sz="1000">
                <a:solidFill>
                  <a:schemeClr val="dk1"/>
                </a:solidFill>
              </a:rPr>
              <a:t> Apartments (24.45%)</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Recovery Crisis:</a:t>
            </a:r>
            <a:r>
              <a:rPr lang="en" sz="1000">
                <a:solidFill>
                  <a:schemeClr val="dk1"/>
                </a:solidFill>
              </a:rPr>
              <a:t> ALL locations show &lt;2% recovery rate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Best Police Division:</a:t>
            </a:r>
            <a:r>
              <a:rPr lang="en" sz="1000">
                <a:solidFill>
                  <a:schemeClr val="dk1"/>
                </a:solidFill>
              </a:rPr>
              <a:t> D31 with only 1.64% recovery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Worst Division:</a:t>
            </a:r>
            <a:r>
              <a:rPr lang="en" sz="1000">
                <a:solidFill>
                  <a:schemeClr val="dk1"/>
                </a:solidFill>
              </a:rPr>
              <a:t> D32 with 0.59% recovery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Parking Lots:</a:t>
            </a:r>
            <a:r>
              <a:rPr lang="en" sz="1000">
                <a:solidFill>
                  <a:schemeClr val="dk1"/>
                </a:solidFill>
              </a:rPr>
              <a:t> 9.34% of thefts - also high risk</a:t>
            </a:r>
            <a:endParaRPr sz="1700">
              <a:solidFill>
                <a:schemeClr val="dk2"/>
              </a:solidFill>
            </a:endParaRPr>
          </a:p>
        </p:txBody>
      </p:sp>
      <p:pic>
        <p:nvPicPr>
          <p:cNvPr id="211" name="Google Shape;211;p37" title="06_location_type_risk.png"/>
          <p:cNvPicPr preferRelativeResize="0"/>
          <p:nvPr/>
        </p:nvPicPr>
        <p:blipFill>
          <a:blip r:embed="rId3">
            <a:alphaModFix/>
          </a:blip>
          <a:stretch>
            <a:fillRect/>
          </a:stretch>
        </p:blipFill>
        <p:spPr>
          <a:xfrm>
            <a:off x="810450" y="2942000"/>
            <a:ext cx="3078076" cy="2024700"/>
          </a:xfrm>
          <a:prstGeom prst="rect">
            <a:avLst/>
          </a:prstGeom>
          <a:noFill/>
          <a:ln>
            <a:noFill/>
          </a:ln>
        </p:spPr>
      </p:pic>
      <p:pic>
        <p:nvPicPr>
          <p:cNvPr id="212" name="Google Shape;212;p37"/>
          <p:cNvPicPr preferRelativeResize="0"/>
          <p:nvPr/>
        </p:nvPicPr>
        <p:blipFill>
          <a:blip r:embed="rId4">
            <a:alphaModFix/>
          </a:blip>
          <a:stretch>
            <a:fillRect/>
          </a:stretch>
        </p:blipFill>
        <p:spPr>
          <a:xfrm>
            <a:off x="4500900" y="1546925"/>
            <a:ext cx="4352350" cy="2484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8"/>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700"/>
          </a:p>
        </p:txBody>
      </p:sp>
      <p:sp>
        <p:nvSpPr>
          <p:cNvPr id="218" name="Google Shape;218;p38"/>
          <p:cNvSpPr txBox="1"/>
          <p:nvPr/>
        </p:nvSpPr>
        <p:spPr>
          <a:xfrm>
            <a:off x="176100" y="92675"/>
            <a:ext cx="857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lt1"/>
                </a:solidFill>
              </a:rPr>
              <a:t>What Gets Stolen? - Bike Brand &amp; Seasonal Analysis</a:t>
            </a:r>
            <a:endParaRPr sz="2800">
              <a:solidFill>
                <a:schemeClr val="lt1"/>
              </a:solidFill>
            </a:endParaRPr>
          </a:p>
        </p:txBody>
      </p:sp>
      <p:sp>
        <p:nvSpPr>
          <p:cNvPr id="219" name="Google Shape;219;p38"/>
          <p:cNvSpPr txBox="1"/>
          <p:nvPr/>
        </p:nvSpPr>
        <p:spPr>
          <a:xfrm>
            <a:off x="176100" y="1087625"/>
            <a:ext cx="4138500" cy="384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SQL Query: Analyzed most stolen bike brands and seasonal patterns</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Key Findings:</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Bike Brands: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Most stolen:</a:t>
            </a:r>
            <a:r>
              <a:rPr lang="en" sz="1100">
                <a:solidFill>
                  <a:schemeClr val="dk1"/>
                </a:solidFill>
              </a:rPr>
              <a:t> OT brand (7,879 thefts, avg value $1,021)</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Second:</a:t>
            </a:r>
            <a:r>
              <a:rPr lang="en" sz="1100">
                <a:solidFill>
                  <a:schemeClr val="dk1"/>
                </a:solidFill>
              </a:rPr>
              <a:t> UK brand (4,209 thefts, avg value $887)</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Premium brands:</a:t>
            </a:r>
            <a:r>
              <a:rPr lang="en" sz="1100">
                <a:solidFill>
                  <a:schemeClr val="dk1"/>
                </a:solidFill>
              </a:rPr>
              <a:t> Specialized ($1,880 avg) shows 2.97% recovery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945 bikes</a:t>
            </a:r>
            <a:r>
              <a:rPr lang="en" sz="1100">
                <a:solidFill>
                  <a:schemeClr val="dk1"/>
                </a:solidFill>
              </a:rPr>
              <a:t> with "UNKNOWN" make - highlights registration need</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Seasonal Patterns: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Summer (June-Aug):</a:t>
            </a:r>
            <a:r>
              <a:rPr lang="en" sz="1100">
                <a:solidFill>
                  <a:schemeClr val="dk1"/>
                </a:solidFill>
              </a:rPr>
              <a:t> 16,894 thefts (43% of annual)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Winter (Dec-Feb):</a:t>
            </a:r>
            <a:r>
              <a:rPr lang="en" sz="1100">
                <a:solidFill>
                  <a:schemeClr val="dk1"/>
                </a:solidFill>
              </a:rPr>
              <a:t> Only 3,229 thefts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6x higher risk</a:t>
            </a:r>
            <a:r>
              <a:rPr lang="en" sz="1100">
                <a:solidFill>
                  <a:schemeClr val="dk1"/>
                </a:solidFill>
              </a:rPr>
              <a:t> in summer vs winter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Winter bikes:</a:t>
            </a:r>
            <a:r>
              <a:rPr lang="en" sz="1100">
                <a:solidFill>
                  <a:schemeClr val="dk1"/>
                </a:solidFill>
              </a:rPr>
              <a:t> Higher average value ($1,300-$1,400)</a:t>
            </a:r>
            <a:endParaRPr sz="1100">
              <a:solidFill>
                <a:schemeClr val="dk1"/>
              </a:solidFill>
            </a:endParaRPr>
          </a:p>
        </p:txBody>
      </p:sp>
      <p:pic>
        <p:nvPicPr>
          <p:cNvPr id="220" name="Google Shape;220;p38"/>
          <p:cNvPicPr preferRelativeResize="0"/>
          <p:nvPr/>
        </p:nvPicPr>
        <p:blipFill>
          <a:blip r:embed="rId3">
            <a:alphaModFix/>
          </a:blip>
          <a:stretch>
            <a:fillRect/>
          </a:stretch>
        </p:blipFill>
        <p:spPr>
          <a:xfrm>
            <a:off x="7652502" y="1087625"/>
            <a:ext cx="1096098" cy="3916074"/>
          </a:xfrm>
          <a:prstGeom prst="rect">
            <a:avLst/>
          </a:prstGeom>
          <a:noFill/>
          <a:ln>
            <a:noFill/>
          </a:ln>
        </p:spPr>
      </p:pic>
      <p:pic>
        <p:nvPicPr>
          <p:cNvPr id="221" name="Google Shape;221;p38" title="04_stolen_bike_brands.png"/>
          <p:cNvPicPr preferRelativeResize="0"/>
          <p:nvPr/>
        </p:nvPicPr>
        <p:blipFill>
          <a:blip r:embed="rId4">
            <a:alphaModFix/>
          </a:blip>
          <a:stretch>
            <a:fillRect/>
          </a:stretch>
        </p:blipFill>
        <p:spPr>
          <a:xfrm>
            <a:off x="4402125" y="1884650"/>
            <a:ext cx="3033103" cy="20125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p:nvPr/>
        </p:nvSpPr>
        <p:spPr>
          <a:xfrm>
            <a:off x="0" y="0"/>
            <a:ext cx="9144000" cy="12621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700"/>
          </a:p>
        </p:txBody>
      </p:sp>
      <p:sp>
        <p:nvSpPr>
          <p:cNvPr id="227" name="Google Shape;227;p39"/>
          <p:cNvSpPr txBox="1"/>
          <p:nvPr/>
        </p:nvSpPr>
        <p:spPr>
          <a:xfrm>
            <a:off x="398500" y="0"/>
            <a:ext cx="8100000" cy="1262100"/>
          </a:xfrm>
          <a:prstGeom prst="rect">
            <a:avLst/>
          </a:prstGeom>
          <a:noFill/>
          <a:ln>
            <a:noFill/>
          </a:ln>
        </p:spPr>
        <p:txBody>
          <a:bodyPr anchorCtr="0" anchor="t" bIns="91425" lIns="91425" spcFirstLastPara="1" rIns="91425" wrap="square" tIns="91425">
            <a:spAutoFit/>
          </a:bodyPr>
          <a:lstStyle/>
          <a:p>
            <a:pPr indent="0" lvl="0" marL="139700" marR="139700" rtl="0" algn="l">
              <a:lnSpc>
                <a:spcPct val="150000"/>
              </a:lnSpc>
              <a:spcBef>
                <a:spcPts val="600"/>
              </a:spcBef>
              <a:spcAft>
                <a:spcPts val="600"/>
              </a:spcAft>
              <a:buNone/>
            </a:pPr>
            <a:r>
              <a:rPr lang="en" sz="2800">
                <a:solidFill>
                  <a:schemeClr val="lt1"/>
                </a:solidFill>
              </a:rPr>
              <a:t>Data Products for Dashboards </a:t>
            </a:r>
            <a:br>
              <a:rPr lang="en" sz="2800">
                <a:solidFill>
                  <a:schemeClr val="lt1"/>
                </a:solidFill>
              </a:rPr>
            </a:br>
            <a:r>
              <a:rPr lang="en" sz="2800">
                <a:solidFill>
                  <a:schemeClr val="lt1"/>
                </a:solidFill>
              </a:rPr>
              <a:t>SQL Views &amp; Master Table</a:t>
            </a:r>
            <a:endParaRPr sz="2800">
              <a:solidFill>
                <a:schemeClr val="lt1"/>
              </a:solidFill>
            </a:endParaRPr>
          </a:p>
        </p:txBody>
      </p:sp>
      <p:sp>
        <p:nvSpPr>
          <p:cNvPr id="228" name="Google Shape;228;p39"/>
          <p:cNvSpPr txBox="1"/>
          <p:nvPr/>
        </p:nvSpPr>
        <p:spPr>
          <a:xfrm>
            <a:off x="148275" y="1390150"/>
            <a:ext cx="4541100" cy="356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solidFill>
                  <a:schemeClr val="dk1"/>
                </a:solidFill>
              </a:rPr>
              <a:t>SQL Views Created for QuickSight:</a:t>
            </a:r>
            <a:endParaRPr b="1" sz="1000">
              <a:solidFill>
                <a:schemeClr val="dk1"/>
              </a:solidFill>
            </a:endParaRPr>
          </a:p>
          <a:p>
            <a:pPr indent="0" lvl="0" marL="0" rtl="0" algn="l">
              <a:lnSpc>
                <a:spcPct val="115000"/>
              </a:lnSpc>
              <a:spcBef>
                <a:spcPts val="1200"/>
              </a:spcBef>
              <a:spcAft>
                <a:spcPts val="0"/>
              </a:spcAft>
              <a:buNone/>
            </a:pPr>
            <a:r>
              <a:rPr lang="en" sz="1000">
                <a:solidFill>
                  <a:schemeClr val="dk1"/>
                </a:solidFill>
              </a:rPr>
              <a:t>I built </a:t>
            </a:r>
            <a:r>
              <a:rPr b="1" lang="en" sz="1000">
                <a:solidFill>
                  <a:schemeClr val="dk1"/>
                </a:solidFill>
              </a:rPr>
              <a:t>6 analytical views</a:t>
            </a:r>
            <a:r>
              <a:rPr lang="en" sz="1000">
                <a:solidFill>
                  <a:schemeClr val="dk1"/>
                </a:solidFill>
              </a:rPr>
              <a:t> to enable interactive dashboards:</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vw_hourly_thefts</a:t>
            </a:r>
            <a:r>
              <a:rPr lang="en" sz="1000">
                <a:solidFill>
                  <a:schemeClr val="dk1"/>
                </a:solidFill>
              </a:rPr>
              <a:t> - Time pattern analysis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vw_top_locations</a:t>
            </a:r>
            <a:r>
              <a:rPr lang="en" sz="1000">
                <a:solidFill>
                  <a:schemeClr val="dk1"/>
                </a:solidFill>
              </a:rPr>
              <a:t> - Geographic hotspots with recovery rates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vw_yearly_trends</a:t>
            </a:r>
            <a:r>
              <a:rPr lang="en" sz="1000">
                <a:solidFill>
                  <a:schemeClr val="dk1"/>
                </a:solidFill>
              </a:rPr>
              <a:t> - Year-over-year theft trends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vw_monthly_patterns</a:t>
            </a:r>
            <a:r>
              <a:rPr lang="en" sz="1000">
                <a:solidFill>
                  <a:schemeClr val="dk1"/>
                </a:solidFill>
              </a:rPr>
              <a:t> - Seasonal analysis with bike values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vw_bike_brands</a:t>
            </a:r>
            <a:r>
              <a:rPr lang="en" sz="1000">
                <a:solidFill>
                  <a:schemeClr val="dk1"/>
                </a:solidFill>
              </a:rPr>
              <a:t> - Brand targeting with recovery metrics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vw_division_performance</a:t>
            </a:r>
            <a:r>
              <a:rPr lang="en" sz="1000">
                <a:solidFill>
                  <a:schemeClr val="dk1"/>
                </a:solidFill>
              </a:rPr>
              <a:t> - Police division performance</a:t>
            </a:r>
            <a:endParaRPr sz="1000">
              <a:solidFill>
                <a:schemeClr val="dk1"/>
              </a:solidFill>
            </a:endParaRPr>
          </a:p>
          <a:p>
            <a:pPr indent="0" lvl="0" marL="0" rtl="0" algn="l">
              <a:lnSpc>
                <a:spcPct val="115000"/>
              </a:lnSpc>
              <a:spcBef>
                <a:spcPts val="1200"/>
              </a:spcBef>
              <a:spcAft>
                <a:spcPts val="0"/>
              </a:spcAft>
              <a:buNone/>
            </a:pPr>
            <a:r>
              <a:rPr b="1" lang="en" sz="1000">
                <a:solidFill>
                  <a:schemeClr val="dk1"/>
                </a:solidFill>
              </a:rPr>
              <a:t>Master Table (vw_master_table):</a:t>
            </a:r>
            <a:endParaRPr b="1" sz="1000">
              <a:solidFill>
                <a:schemeClr val="dk1"/>
              </a:solidFill>
            </a:endParaRPr>
          </a:p>
          <a:p>
            <a:pPr indent="0" lvl="0" marL="0" rtl="0" algn="l">
              <a:lnSpc>
                <a:spcPct val="115000"/>
              </a:lnSpc>
              <a:spcBef>
                <a:spcPts val="1200"/>
              </a:spcBef>
              <a:spcAft>
                <a:spcPts val="0"/>
              </a:spcAft>
              <a:buNone/>
            </a:pPr>
            <a:r>
              <a:rPr lang="en" sz="1000">
                <a:solidFill>
                  <a:schemeClr val="dk1"/>
                </a:solidFill>
              </a:rPr>
              <a:t>Built for interactive filtering and global dashboards:</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bike_make_clean</a:t>
            </a:r>
            <a:r>
              <a:rPr lang="en" sz="1000">
                <a:solidFill>
                  <a:schemeClr val="dk1"/>
                </a:solidFill>
              </a:rPr>
              <a:t> - Standardized brand names (GIANT, TREK, etc.)</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season</a:t>
            </a:r>
            <a:r>
              <a:rPr lang="en" sz="1000">
                <a:solidFill>
                  <a:schemeClr val="dk1"/>
                </a:solidFill>
              </a:rPr>
              <a:t> - Winter/Spring/Summer/Fall classification</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time_of_day</a:t>
            </a:r>
            <a:r>
              <a:rPr lang="en" sz="1000">
                <a:solidFill>
                  <a:schemeClr val="dk1"/>
                </a:solidFill>
              </a:rPr>
              <a:t> - Morning/Afternoon/Evening/Night periods</a:t>
            </a:r>
            <a:endParaRPr sz="1000">
              <a:solidFill>
                <a:schemeClr val="dk1"/>
              </a:solidFill>
            </a:endParaRPr>
          </a:p>
          <a:p>
            <a:pPr indent="0" lvl="0" marL="0" rtl="0" algn="l">
              <a:lnSpc>
                <a:spcPct val="115000"/>
              </a:lnSpc>
              <a:spcBef>
                <a:spcPts val="1200"/>
              </a:spcBef>
              <a:spcAft>
                <a:spcPts val="1200"/>
              </a:spcAft>
              <a:buNone/>
            </a:pPr>
            <a:r>
              <a:rPr b="1" lang="en" sz="1000">
                <a:solidFill>
                  <a:schemeClr val="dk1"/>
                </a:solidFill>
              </a:rPr>
              <a:t>Purpose:</a:t>
            </a:r>
            <a:r>
              <a:rPr lang="en" sz="1000">
                <a:solidFill>
                  <a:schemeClr val="dk1"/>
                </a:solidFill>
              </a:rPr>
              <a:t> Enable Qi to create dynamic dashboards with filters</a:t>
            </a:r>
            <a:endParaRPr sz="1000">
              <a:solidFill>
                <a:schemeClr val="dk1"/>
              </a:solidFill>
            </a:endParaRPr>
          </a:p>
        </p:txBody>
      </p:sp>
      <p:pic>
        <p:nvPicPr>
          <p:cNvPr id="229" name="Google Shape;229;p39"/>
          <p:cNvPicPr preferRelativeResize="0"/>
          <p:nvPr/>
        </p:nvPicPr>
        <p:blipFill>
          <a:blip r:embed="rId3">
            <a:alphaModFix/>
          </a:blip>
          <a:stretch>
            <a:fillRect/>
          </a:stretch>
        </p:blipFill>
        <p:spPr>
          <a:xfrm>
            <a:off x="4841775" y="1414500"/>
            <a:ext cx="3522511" cy="35765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40"/>
          <p:cNvPicPr preferRelativeResize="0"/>
          <p:nvPr/>
        </p:nvPicPr>
        <p:blipFill>
          <a:blip r:embed="rId3">
            <a:alphaModFix/>
          </a:blip>
          <a:stretch>
            <a:fillRect/>
          </a:stretch>
        </p:blipFill>
        <p:spPr>
          <a:xfrm>
            <a:off x="152400" y="170950"/>
            <a:ext cx="8839201" cy="471190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700"/>
          </a:p>
        </p:txBody>
      </p:sp>
      <p:sp>
        <p:nvSpPr>
          <p:cNvPr id="240" name="Google Shape;240;p41"/>
          <p:cNvSpPr txBox="1"/>
          <p:nvPr/>
        </p:nvSpPr>
        <p:spPr>
          <a:xfrm>
            <a:off x="1408700" y="136650"/>
            <a:ext cx="6737400" cy="615600"/>
          </a:xfrm>
          <a:prstGeom prst="rect">
            <a:avLst/>
          </a:prstGeom>
          <a:noFill/>
          <a:ln>
            <a:noFill/>
          </a:ln>
        </p:spPr>
        <p:txBody>
          <a:bodyPr anchorCtr="0" anchor="t" bIns="91425" lIns="91425" spcFirstLastPara="1" rIns="91425" wrap="square" tIns="91425">
            <a:spAutoFit/>
          </a:bodyPr>
          <a:lstStyle/>
          <a:p>
            <a:pPr indent="0" lvl="0" marL="139700" marR="139700" rtl="0" algn="l">
              <a:lnSpc>
                <a:spcPct val="150000"/>
              </a:lnSpc>
              <a:spcBef>
                <a:spcPts val="600"/>
              </a:spcBef>
              <a:spcAft>
                <a:spcPts val="600"/>
              </a:spcAft>
              <a:buNone/>
            </a:pPr>
            <a:r>
              <a:rPr lang="en" sz="2800">
                <a:solidFill>
                  <a:schemeClr val="lt1"/>
                </a:solidFill>
              </a:rPr>
              <a:t>Recommendations &amp; Action Plan</a:t>
            </a:r>
            <a:endParaRPr sz="2800">
              <a:solidFill>
                <a:schemeClr val="lt1"/>
              </a:solidFill>
            </a:endParaRPr>
          </a:p>
        </p:txBody>
      </p:sp>
      <p:sp>
        <p:nvSpPr>
          <p:cNvPr id="241" name="Google Shape;241;p41"/>
          <p:cNvSpPr txBox="1"/>
          <p:nvPr/>
        </p:nvSpPr>
        <p:spPr>
          <a:xfrm>
            <a:off x="4170400" y="1094400"/>
            <a:ext cx="4615200" cy="3661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Clr>
                <a:schemeClr val="dk1"/>
              </a:buClr>
              <a:buSzPts val="1100"/>
              <a:buFont typeface="Arial"/>
              <a:buNone/>
            </a:pPr>
            <a:r>
              <a:rPr b="1" lang="en" sz="1100">
                <a:solidFill>
                  <a:schemeClr val="dk1"/>
                </a:solidFill>
              </a:rPr>
              <a:t>Why This Strategy Works: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Data-Driven Approach:</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Analysis identified clear patterns in when, where, and what gets stolen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Each pillar targets a specific high-risk factor from our findings</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Multi-Stakeholder Solution:</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No single group can solve alone - requires coordinated effort</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Addresses all risk dimensions: temporal, geographic, recovery</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Proven Success Potential:</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2024 shows 9.06% decline - interventions are working</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Strategic focus can accelerate this positive trend</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Prevention Over Recovery:</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Current recovery rate: &lt;2% across all divisions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Prevention is the only viable strategy</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Coordinated approach maximizes impact</a:t>
            </a:r>
            <a:endParaRPr sz="1600">
              <a:solidFill>
                <a:schemeClr val="dk2"/>
              </a:solidFill>
            </a:endParaRPr>
          </a:p>
        </p:txBody>
      </p:sp>
      <p:pic>
        <p:nvPicPr>
          <p:cNvPr id="242" name="Google Shape;242;p41"/>
          <p:cNvPicPr preferRelativeResize="0"/>
          <p:nvPr/>
        </p:nvPicPr>
        <p:blipFill>
          <a:blip r:embed="rId3">
            <a:alphaModFix/>
          </a:blip>
          <a:stretch>
            <a:fillRect/>
          </a:stretch>
        </p:blipFill>
        <p:spPr>
          <a:xfrm>
            <a:off x="405125" y="982350"/>
            <a:ext cx="3579925" cy="4044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2"/>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42"/>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BI Implementation &amp; Visual Analytics</a:t>
            </a:r>
            <a:endParaRPr b="1" sz="2800">
              <a:solidFill>
                <a:srgbClr val="FFFFFF"/>
              </a:solidFill>
            </a:endParaRPr>
          </a:p>
        </p:txBody>
      </p:sp>
      <p:pic>
        <p:nvPicPr>
          <p:cNvPr id="249" name="Google Shape;249;p42" title="Screenshot 2025-12-06 at 9.08.32 PM.png"/>
          <p:cNvPicPr preferRelativeResize="0"/>
          <p:nvPr/>
        </p:nvPicPr>
        <p:blipFill>
          <a:blip r:embed="rId3">
            <a:alphaModFix/>
          </a:blip>
          <a:stretch>
            <a:fillRect/>
          </a:stretch>
        </p:blipFill>
        <p:spPr>
          <a:xfrm>
            <a:off x="466825" y="1030425"/>
            <a:ext cx="8210351" cy="3949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43"/>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Technical Architecture &amp; Backend Strategy</a:t>
            </a:r>
            <a:endParaRPr b="1" sz="2800">
              <a:solidFill>
                <a:srgbClr val="FFFFFF"/>
              </a:solidFill>
            </a:endParaRPr>
          </a:p>
        </p:txBody>
      </p:sp>
      <p:sp>
        <p:nvSpPr>
          <p:cNvPr id="256" name="Google Shape;256;p43"/>
          <p:cNvSpPr txBox="1"/>
          <p:nvPr/>
        </p:nvSpPr>
        <p:spPr>
          <a:xfrm>
            <a:off x="564725" y="1140275"/>
            <a:ext cx="8047200" cy="37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BI Platform Selection:</a:t>
            </a:r>
            <a:r>
              <a:rPr lang="en" sz="1800">
                <a:solidFill>
                  <a:schemeClr val="dk1"/>
                </a:solidFill>
              </a:rPr>
              <a:t> Amazon QuickSight (Cloud-native integration with RDS).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 sz="1800">
                <a:solidFill>
                  <a:schemeClr val="dk1"/>
                </a:solidFill>
              </a:rPr>
              <a:t>Data Modeling Strategy:</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 sz="1800">
                <a:solidFill>
                  <a:schemeClr val="dk1"/>
                </a:solidFill>
              </a:rPr>
              <a:t>Moved from fragmented SQL views to a single </a:t>
            </a:r>
            <a:r>
              <a:rPr b="1" lang="en" sz="1800">
                <a:solidFill>
                  <a:schemeClr val="dk1"/>
                </a:solidFill>
              </a:rPr>
              <a:t>"Master Table" architecture</a:t>
            </a:r>
            <a:r>
              <a:rPr lang="en" sz="1800">
                <a:solidFill>
                  <a:schemeClr val="dk1"/>
                </a:solidFill>
              </a:rPr>
              <a: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Enables dynamic aggregation and flexible filtering on the fly.</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800">
                <a:solidFill>
                  <a:schemeClr val="dk1"/>
                </a:solidFill>
              </a:rPr>
              <a:t>Performance Optimization (SPICE):</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 sz="1800">
                <a:solidFill>
                  <a:schemeClr val="dk1"/>
                </a:solidFill>
              </a:rPr>
              <a:t>Utilized </a:t>
            </a:r>
            <a:r>
              <a:rPr b="1" lang="en" sz="1800">
                <a:solidFill>
                  <a:schemeClr val="dk1"/>
                </a:solidFill>
              </a:rPr>
              <a:t>S</a:t>
            </a:r>
            <a:r>
              <a:rPr lang="en" sz="1800">
                <a:solidFill>
                  <a:schemeClr val="dk1"/>
                </a:solidFill>
              </a:rPr>
              <a:t>uper-fast, </a:t>
            </a:r>
            <a:r>
              <a:rPr b="1" lang="en" sz="1800">
                <a:solidFill>
                  <a:schemeClr val="dk1"/>
                </a:solidFill>
              </a:rPr>
              <a:t>P</a:t>
            </a:r>
            <a:r>
              <a:rPr lang="en" sz="1800">
                <a:solidFill>
                  <a:schemeClr val="dk1"/>
                </a:solidFill>
              </a:rPr>
              <a:t>arallel, </a:t>
            </a:r>
            <a:r>
              <a:rPr b="1" lang="en" sz="1800">
                <a:solidFill>
                  <a:schemeClr val="dk1"/>
                </a:solidFill>
              </a:rPr>
              <a:t>I</a:t>
            </a:r>
            <a:r>
              <a:rPr lang="en" sz="1800">
                <a:solidFill>
                  <a:schemeClr val="dk1"/>
                </a:solidFill>
              </a:rPr>
              <a:t>n-memory </a:t>
            </a:r>
            <a:r>
              <a:rPr b="1" lang="en" sz="1800">
                <a:solidFill>
                  <a:schemeClr val="dk1"/>
                </a:solidFill>
              </a:rPr>
              <a:t>C</a:t>
            </a:r>
            <a:r>
              <a:rPr lang="en" sz="1800">
                <a:solidFill>
                  <a:schemeClr val="dk1"/>
                </a:solidFill>
              </a:rPr>
              <a:t>alculation </a:t>
            </a:r>
            <a:r>
              <a:rPr b="1" lang="en" sz="1800">
                <a:solidFill>
                  <a:schemeClr val="dk1"/>
                </a:solidFill>
              </a:rPr>
              <a:t>E</a:t>
            </a:r>
            <a:r>
              <a:rPr lang="en" sz="1800">
                <a:solidFill>
                  <a:schemeClr val="dk1"/>
                </a:solidFill>
              </a:rPr>
              <a:t>ngine.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Result:</a:t>
            </a:r>
            <a:r>
              <a:rPr lang="en" sz="1800">
                <a:solidFill>
                  <a:schemeClr val="dk1"/>
                </a:solidFill>
              </a:rPr>
              <a:t> Sub-second load times for 10+ years of geospatial data.</a:t>
            </a:r>
            <a:endParaRPr sz="18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4"/>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44"/>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Visual Analysis – The "Where" and "When"</a:t>
            </a:r>
            <a:endParaRPr b="1" sz="2800">
              <a:solidFill>
                <a:srgbClr val="FFFFFF"/>
              </a:solidFill>
            </a:endParaRPr>
          </a:p>
        </p:txBody>
      </p:sp>
      <p:sp>
        <p:nvSpPr>
          <p:cNvPr id="263" name="Google Shape;263;p44"/>
          <p:cNvSpPr txBox="1"/>
          <p:nvPr/>
        </p:nvSpPr>
        <p:spPr>
          <a:xfrm>
            <a:off x="336650" y="1096850"/>
            <a:ext cx="3979200" cy="384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Spatial Analysis (The Map):</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Visualization Type:</a:t>
            </a:r>
            <a:r>
              <a:rPr lang="en" sz="1500">
                <a:solidFill>
                  <a:schemeClr val="dk1"/>
                </a:solidFill>
              </a:rPr>
              <a:t> Interactive </a:t>
            </a:r>
            <a:r>
              <a:rPr b="1" lang="en" sz="1500">
                <a:solidFill>
                  <a:schemeClr val="dk1"/>
                </a:solidFill>
              </a:rPr>
              <a:t>Point Map</a:t>
            </a:r>
            <a:r>
              <a:rPr lang="en" sz="1500">
                <a:solidFill>
                  <a:schemeClr val="dk1"/>
                </a:solidFill>
              </a:rPr>
              <a:t> (Pin-level Granularity).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Implementation:</a:t>
            </a:r>
            <a:r>
              <a:rPr lang="en" sz="1500">
                <a:solidFill>
                  <a:schemeClr val="dk1"/>
                </a:solidFill>
              </a:rPr>
              <a:t> Plotted individual theft coordinates (Latitude/Longitude) to visualize exact incident locations rather than aggregated regions.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Insight Logic:</a:t>
            </a:r>
            <a:r>
              <a:rPr lang="en" sz="1500">
                <a:solidFill>
                  <a:schemeClr val="dk1"/>
                </a:solidFill>
              </a:rPr>
              <a:t> Applied a conditional color schema (</a:t>
            </a:r>
            <a:r>
              <a:rPr b="1" lang="en" sz="1500">
                <a:solidFill>
                  <a:schemeClr val="dk1"/>
                </a:solidFill>
              </a:rPr>
              <a:t>Orange = Stolen</a:t>
            </a:r>
            <a:r>
              <a:rPr lang="en" sz="1500">
                <a:solidFill>
                  <a:schemeClr val="dk1"/>
                </a:solidFill>
              </a:rPr>
              <a:t>, </a:t>
            </a:r>
            <a:r>
              <a:rPr b="1" lang="en" sz="1500">
                <a:solidFill>
                  <a:schemeClr val="dk1"/>
                </a:solidFill>
              </a:rPr>
              <a:t>Blue = Recovered</a:t>
            </a:r>
            <a:r>
              <a:rPr lang="en" sz="1500">
                <a:solidFill>
                  <a:schemeClr val="dk1"/>
                </a:solidFill>
              </a:rPr>
              <a:t>), allowing users to identify precise "recovery hotspots" amidst the high-density theft zones.</a:t>
            </a:r>
            <a:endParaRPr b="1" sz="1500">
              <a:solidFill>
                <a:schemeClr val="dk1"/>
              </a:solidFill>
            </a:endParaRPr>
          </a:p>
          <a:p>
            <a:pPr indent="0" lvl="0" marL="457200" rtl="0" algn="l">
              <a:lnSpc>
                <a:spcPct val="115000"/>
              </a:lnSpc>
              <a:spcBef>
                <a:spcPts val="1200"/>
              </a:spcBef>
              <a:spcAft>
                <a:spcPts val="0"/>
              </a:spcAft>
              <a:buNone/>
            </a:pPr>
            <a:r>
              <a:t/>
            </a:r>
            <a:endParaRPr b="1" sz="1800">
              <a:solidFill>
                <a:schemeClr val="dk1"/>
              </a:solidFill>
            </a:endParaRPr>
          </a:p>
          <a:p>
            <a:pPr indent="0" lvl="0" marL="0" rtl="0" algn="l">
              <a:spcBef>
                <a:spcPts val="1200"/>
              </a:spcBef>
              <a:spcAft>
                <a:spcPts val="0"/>
              </a:spcAft>
              <a:buNone/>
            </a:pPr>
            <a:r>
              <a:t/>
            </a:r>
            <a:endParaRPr sz="1900">
              <a:solidFill>
                <a:schemeClr val="dk2"/>
              </a:solidFill>
            </a:endParaRPr>
          </a:p>
        </p:txBody>
      </p:sp>
      <p:pic>
        <p:nvPicPr>
          <p:cNvPr id="264" name="Google Shape;264;p44" title="Screenshot 2025-12-06 at 8.50.00 PM.png"/>
          <p:cNvPicPr preferRelativeResize="0"/>
          <p:nvPr/>
        </p:nvPicPr>
        <p:blipFill>
          <a:blip r:embed="rId3">
            <a:alphaModFix/>
          </a:blip>
          <a:stretch>
            <a:fillRect/>
          </a:stretch>
        </p:blipFill>
        <p:spPr>
          <a:xfrm>
            <a:off x="4315850" y="1565675"/>
            <a:ext cx="4828275" cy="2795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45"/>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Visual Analysis – The "Where" and "When"</a:t>
            </a:r>
            <a:endParaRPr b="1" sz="2800">
              <a:solidFill>
                <a:srgbClr val="FFFFFF"/>
              </a:solidFill>
            </a:endParaRPr>
          </a:p>
        </p:txBody>
      </p:sp>
      <p:sp>
        <p:nvSpPr>
          <p:cNvPr id="271" name="Google Shape;271;p45"/>
          <p:cNvSpPr txBox="1"/>
          <p:nvPr/>
        </p:nvSpPr>
        <p:spPr>
          <a:xfrm>
            <a:off x="325800" y="1096850"/>
            <a:ext cx="5125800" cy="384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rPr>
              <a:t>Temporal Analysis (The Trend):</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Analysis Type:</a:t>
            </a:r>
            <a:r>
              <a:rPr lang="en" sz="1300">
                <a:solidFill>
                  <a:schemeClr val="dk1"/>
                </a:solidFill>
              </a:rPr>
              <a:t> 10-Year Time Series tracking theft volume.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Interactive Feature:</a:t>
            </a:r>
            <a:r>
              <a:rPr lang="en" sz="1300">
                <a:solidFill>
                  <a:schemeClr val="dk1"/>
                </a:solidFill>
              </a:rPr>
              <a:t> Implemented a </a:t>
            </a:r>
            <a:r>
              <a:rPr b="1" lang="en" sz="1300">
                <a:solidFill>
                  <a:schemeClr val="dk1"/>
                </a:solidFill>
              </a:rPr>
              <a:t>Drill-Down Hierarchy (Year/</a:t>
            </a:r>
            <a:r>
              <a:rPr b="1" lang="en" sz="1300">
                <a:solidFill>
                  <a:schemeClr val="dk1"/>
                </a:solidFill>
              </a:rPr>
              <a:t>Quarter</a:t>
            </a:r>
            <a:r>
              <a:rPr b="1" lang="en" sz="1300">
                <a:solidFill>
                  <a:schemeClr val="dk1"/>
                </a:solidFill>
              </a:rPr>
              <a:t>/Month)</a:t>
            </a:r>
            <a:r>
              <a:rPr lang="en"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Why it matters:</a:t>
            </a:r>
            <a:r>
              <a:rPr lang="en" sz="1300">
                <a:solidFill>
                  <a:schemeClr val="dk1"/>
                </a:solidFill>
              </a:rPr>
              <a:t> Allows users to switch between viewing long-term annual trends and investigating specific seasonal "waves" (Summer spikes) without changing the chart view.</a:t>
            </a:r>
            <a:endParaRPr sz="1300">
              <a:solidFill>
                <a:schemeClr val="dk1"/>
              </a:solidFill>
            </a:endParaRPr>
          </a:p>
          <a:p>
            <a:pPr indent="0" lvl="0" marL="0" rtl="0" algn="l">
              <a:spcBef>
                <a:spcPts val="1200"/>
              </a:spcBef>
              <a:spcAft>
                <a:spcPts val="0"/>
              </a:spcAft>
              <a:buNone/>
            </a:pPr>
            <a:r>
              <a:t/>
            </a:r>
            <a:endParaRPr b="1" sz="1500">
              <a:solidFill>
                <a:schemeClr val="dk1"/>
              </a:solidFill>
            </a:endParaRPr>
          </a:p>
        </p:txBody>
      </p:sp>
      <p:pic>
        <p:nvPicPr>
          <p:cNvPr id="272" name="Google Shape;272;p45" title="Screenshot 2025-12-06 at 8.52.19 PM.png"/>
          <p:cNvPicPr preferRelativeResize="0"/>
          <p:nvPr/>
        </p:nvPicPr>
        <p:blipFill>
          <a:blip r:embed="rId3">
            <a:alphaModFix/>
          </a:blip>
          <a:stretch>
            <a:fillRect/>
          </a:stretch>
        </p:blipFill>
        <p:spPr>
          <a:xfrm>
            <a:off x="5717150" y="1096850"/>
            <a:ext cx="2926181" cy="1530450"/>
          </a:xfrm>
          <a:prstGeom prst="rect">
            <a:avLst/>
          </a:prstGeom>
          <a:noFill/>
          <a:ln>
            <a:noFill/>
          </a:ln>
        </p:spPr>
      </p:pic>
      <p:pic>
        <p:nvPicPr>
          <p:cNvPr id="273" name="Google Shape;273;p45" title="Screenshot 2025-12-06 at 8.52.48 PM.png"/>
          <p:cNvPicPr preferRelativeResize="0"/>
          <p:nvPr/>
        </p:nvPicPr>
        <p:blipFill>
          <a:blip r:embed="rId4">
            <a:alphaModFix/>
          </a:blip>
          <a:stretch>
            <a:fillRect/>
          </a:stretch>
        </p:blipFill>
        <p:spPr>
          <a:xfrm>
            <a:off x="5722289" y="3276375"/>
            <a:ext cx="2915910" cy="1530450"/>
          </a:xfrm>
          <a:prstGeom prst="rect">
            <a:avLst/>
          </a:prstGeom>
          <a:noFill/>
          <a:ln>
            <a:noFill/>
          </a:ln>
        </p:spPr>
      </p:pic>
      <p:pic>
        <p:nvPicPr>
          <p:cNvPr id="274" name="Google Shape;274;p45" title="Screenshot 2025-12-06 at 8.53.19 PM.png"/>
          <p:cNvPicPr preferRelativeResize="0"/>
          <p:nvPr/>
        </p:nvPicPr>
        <p:blipFill>
          <a:blip r:embed="rId5">
            <a:alphaModFix/>
          </a:blip>
          <a:stretch>
            <a:fillRect/>
          </a:stretch>
        </p:blipFill>
        <p:spPr>
          <a:xfrm>
            <a:off x="827575" y="3222500"/>
            <a:ext cx="3019049" cy="15843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6"/>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46"/>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Behavioral Risk &amp; Target Profiling</a:t>
            </a:r>
            <a:endParaRPr b="1" sz="2800">
              <a:solidFill>
                <a:srgbClr val="FFFFFF"/>
              </a:solidFill>
            </a:endParaRPr>
          </a:p>
        </p:txBody>
      </p:sp>
      <p:sp>
        <p:nvSpPr>
          <p:cNvPr id="281" name="Google Shape;281;p46"/>
          <p:cNvSpPr txBox="1"/>
          <p:nvPr/>
        </p:nvSpPr>
        <p:spPr>
          <a:xfrm>
            <a:off x="249775" y="1085975"/>
            <a:ext cx="4278900" cy="3811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Char char="●"/>
            </a:pPr>
            <a:r>
              <a:rPr b="1" lang="en" sz="1800">
                <a:solidFill>
                  <a:schemeClr val="dk1"/>
                </a:solidFill>
              </a:rPr>
              <a:t>Behavioral Risk (The Heatmap):</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Method:</a:t>
            </a:r>
            <a:r>
              <a:rPr lang="en" sz="1800">
                <a:solidFill>
                  <a:schemeClr val="dk1"/>
                </a:solidFill>
              </a:rPr>
              <a:t> Matrix crossing </a:t>
            </a:r>
            <a:r>
              <a:rPr i="1" lang="en" sz="1800">
                <a:solidFill>
                  <a:schemeClr val="dk1"/>
                </a:solidFill>
              </a:rPr>
              <a:t>Day of Week</a:t>
            </a:r>
            <a:r>
              <a:rPr lang="en" sz="1800">
                <a:solidFill>
                  <a:schemeClr val="dk1"/>
                </a:solidFill>
              </a:rPr>
              <a:t> vs. </a:t>
            </a:r>
            <a:r>
              <a:rPr i="1" lang="en" sz="1800">
                <a:solidFill>
                  <a:schemeClr val="dk1"/>
                </a:solidFill>
              </a:rPr>
              <a:t>Time of Day</a:t>
            </a:r>
            <a:r>
              <a:rPr lang="en" sz="1800">
                <a:solidFill>
                  <a:schemeClr val="dk1"/>
                </a:solidFill>
              </a:rPr>
              <a: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Discovery:</a:t>
            </a:r>
            <a:r>
              <a:rPr lang="en" sz="1800">
                <a:solidFill>
                  <a:schemeClr val="dk1"/>
                </a:solidFill>
              </a:rPr>
              <a:t> Isolates "Danger Zones" (e.g., Friday Evenings) that simple line charts miss.</a:t>
            </a:r>
            <a:endParaRPr sz="1800">
              <a:solidFill>
                <a:schemeClr val="dk1"/>
              </a:solidFill>
            </a:endParaRPr>
          </a:p>
          <a:p>
            <a:pPr indent="0" lvl="0" marL="457200" rtl="0" algn="l">
              <a:lnSpc>
                <a:spcPct val="115000"/>
              </a:lnSpc>
              <a:spcBef>
                <a:spcPts val="1200"/>
              </a:spcBef>
              <a:spcAft>
                <a:spcPts val="0"/>
              </a:spcAft>
              <a:buNone/>
            </a:pPr>
            <a:r>
              <a:t/>
            </a:r>
            <a:endParaRPr sz="1800">
              <a:solidFill>
                <a:schemeClr val="dk1"/>
              </a:solidFill>
            </a:endParaRPr>
          </a:p>
          <a:p>
            <a:pPr indent="0" lvl="0" marL="0" rtl="0" algn="l">
              <a:spcBef>
                <a:spcPts val="1200"/>
              </a:spcBef>
              <a:spcAft>
                <a:spcPts val="0"/>
              </a:spcAft>
              <a:buNone/>
            </a:pPr>
            <a:r>
              <a:t/>
            </a:r>
            <a:endParaRPr sz="1800">
              <a:solidFill>
                <a:schemeClr val="dk2"/>
              </a:solidFill>
            </a:endParaRPr>
          </a:p>
        </p:txBody>
      </p:sp>
      <p:pic>
        <p:nvPicPr>
          <p:cNvPr id="282" name="Google Shape;282;p46" title="Screenshot 2025-12-06 at 8.57.28 PM.png"/>
          <p:cNvPicPr preferRelativeResize="0"/>
          <p:nvPr/>
        </p:nvPicPr>
        <p:blipFill>
          <a:blip r:embed="rId3">
            <a:alphaModFix/>
          </a:blip>
          <a:stretch>
            <a:fillRect/>
          </a:stretch>
        </p:blipFill>
        <p:spPr>
          <a:xfrm>
            <a:off x="4528550" y="2571744"/>
            <a:ext cx="4452524" cy="23451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7"/>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47"/>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Behavioral Risk &amp; Target Profiling</a:t>
            </a:r>
            <a:endParaRPr b="1" sz="2800">
              <a:solidFill>
                <a:srgbClr val="FFFFFF"/>
              </a:solidFill>
            </a:endParaRPr>
          </a:p>
        </p:txBody>
      </p:sp>
      <p:sp>
        <p:nvSpPr>
          <p:cNvPr id="289" name="Google Shape;289;p47"/>
          <p:cNvSpPr txBox="1"/>
          <p:nvPr/>
        </p:nvSpPr>
        <p:spPr>
          <a:xfrm>
            <a:off x="249775" y="1085975"/>
            <a:ext cx="4257000" cy="3811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Char char="●"/>
            </a:pPr>
            <a:r>
              <a:rPr b="1" lang="en" sz="1800">
                <a:solidFill>
                  <a:schemeClr val="dk1"/>
                </a:solidFill>
              </a:rPr>
              <a:t>Target Analysis (The Bar Chart):</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Method:</a:t>
            </a:r>
            <a:r>
              <a:rPr lang="en" sz="1800">
                <a:solidFill>
                  <a:schemeClr val="dk1"/>
                </a:solidFill>
              </a:rPr>
              <a:t> Top 10 Ranking Filter on </a:t>
            </a:r>
            <a:r>
              <a:rPr lang="en" sz="1800">
                <a:solidFill>
                  <a:srgbClr val="188038"/>
                </a:solidFill>
                <a:latin typeface="Roboto Mono"/>
                <a:ea typeface="Roboto Mono"/>
                <a:cs typeface="Roboto Mono"/>
                <a:sym typeface="Roboto Mono"/>
              </a:rPr>
              <a:t>Bike_Make_Clean</a:t>
            </a:r>
            <a:r>
              <a:rPr lang="en" sz="1800">
                <a:solidFill>
                  <a:schemeClr val="dk1"/>
                </a:solidFill>
              </a:rPr>
              <a: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Constraint:</a:t>
            </a:r>
            <a:r>
              <a:rPr lang="en" sz="1800">
                <a:solidFill>
                  <a:schemeClr val="dk1"/>
                </a:solidFill>
              </a:rPr>
              <a:t> Filtered "Unknown" data to focus on actionable insights.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Insight:</a:t>
            </a:r>
            <a:r>
              <a:rPr lang="en" sz="1800">
                <a:solidFill>
                  <a:schemeClr val="dk1"/>
                </a:solidFill>
              </a:rPr>
              <a:t> Identifies premium brands (Giant, Trek) as primary targets for organized theft.</a:t>
            </a:r>
            <a:endParaRPr sz="1800">
              <a:solidFill>
                <a:schemeClr val="dk1"/>
              </a:solidFill>
            </a:endParaRPr>
          </a:p>
          <a:p>
            <a:pPr indent="0" lvl="0" marL="0" rtl="0" algn="l">
              <a:spcBef>
                <a:spcPts val="1200"/>
              </a:spcBef>
              <a:spcAft>
                <a:spcPts val="0"/>
              </a:spcAft>
              <a:buNone/>
            </a:pPr>
            <a:r>
              <a:t/>
            </a:r>
            <a:endParaRPr sz="1800">
              <a:solidFill>
                <a:schemeClr val="dk2"/>
              </a:solidFill>
            </a:endParaRPr>
          </a:p>
        </p:txBody>
      </p:sp>
      <p:pic>
        <p:nvPicPr>
          <p:cNvPr id="290" name="Google Shape;290;p47" title="Screenshot 2025-12-06 at 8.58.05 PM.png"/>
          <p:cNvPicPr preferRelativeResize="0"/>
          <p:nvPr/>
        </p:nvPicPr>
        <p:blipFill>
          <a:blip r:embed="rId3">
            <a:alphaModFix/>
          </a:blip>
          <a:stretch>
            <a:fillRect/>
          </a:stretch>
        </p:blipFill>
        <p:spPr>
          <a:xfrm>
            <a:off x="4572000" y="2693249"/>
            <a:ext cx="4439349" cy="2337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48"/>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Dashboard Design &amp; User Experience</a:t>
            </a:r>
            <a:endParaRPr b="1" sz="2800">
              <a:solidFill>
                <a:srgbClr val="FFFFFF"/>
              </a:solidFill>
            </a:endParaRPr>
          </a:p>
        </p:txBody>
      </p:sp>
      <p:sp>
        <p:nvSpPr>
          <p:cNvPr id="297" name="Google Shape;297;p48"/>
          <p:cNvSpPr txBox="1"/>
          <p:nvPr/>
        </p:nvSpPr>
        <p:spPr>
          <a:xfrm>
            <a:off x="336650" y="1085975"/>
            <a:ext cx="4289700" cy="38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"Single Pane of Glass" Architecture: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Implemented </a:t>
            </a:r>
            <a:r>
              <a:rPr b="1" lang="en" sz="1100">
                <a:solidFill>
                  <a:schemeClr val="dk1"/>
                </a:solidFill>
              </a:rPr>
              <a:t>Free-form layout</a:t>
            </a:r>
            <a:r>
              <a:rPr lang="en" sz="1100">
                <a:solidFill>
                  <a:schemeClr val="dk1"/>
                </a:solidFill>
              </a:rPr>
              <a:t> with auto-scaling ("Fit to Window"), ensuring the entire dashboard is visible without scrolling on any device.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Global Filter Suite: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Five interconnected controls (</a:t>
            </a:r>
            <a:r>
              <a:rPr b="1" lang="en" sz="1100">
                <a:solidFill>
                  <a:schemeClr val="dk1"/>
                </a:solidFill>
              </a:rPr>
              <a:t>Year, Neighborhood, Bike Type, Day, Time</a:t>
            </a:r>
            <a:r>
              <a:rPr lang="en" sz="1100">
                <a:solidFill>
                  <a:schemeClr val="dk1"/>
                </a:solidFill>
              </a:rPr>
              <a:t>) allow users to slice the entire dataset instantly.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Omni-Directional Interactivity: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Unified Action Layer:</a:t>
            </a:r>
            <a:r>
              <a:rPr lang="en" sz="1100">
                <a:solidFill>
                  <a:schemeClr val="dk1"/>
                </a:solidFill>
              </a:rPr>
              <a:t> Interactivity is enabled on </a:t>
            </a:r>
            <a:r>
              <a:rPr b="1" lang="en" sz="1100">
                <a:solidFill>
                  <a:schemeClr val="dk1"/>
                </a:solidFill>
              </a:rPr>
              <a:t>all components</a:t>
            </a:r>
            <a:r>
              <a:rPr lang="en" sz="1100">
                <a:solidFill>
                  <a:schemeClr val="dk1"/>
                </a:solidFill>
              </a:rPr>
              <a:t>, including the </a:t>
            </a:r>
            <a:r>
              <a:rPr b="1" lang="en" sz="1100">
                <a:solidFill>
                  <a:schemeClr val="dk1"/>
                </a:solidFill>
              </a:rPr>
              <a:t>4 KPI Cards</a:t>
            </a:r>
            <a:r>
              <a:rPr lang="en" sz="1100">
                <a:solidFill>
                  <a:schemeClr val="dk1"/>
                </a:solidFill>
              </a:rPr>
              <a:t>, Map, Trend Line, Heatmap, and Bar Chart.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Context-Aware Metrics:</a:t>
            </a:r>
            <a:r>
              <a:rPr lang="en" sz="1100">
                <a:solidFill>
                  <a:schemeClr val="dk1"/>
                </a:solidFill>
              </a:rPr>
              <a:t> Clicking any visual (e.g., a map cluster) filters all other charts and </a:t>
            </a:r>
            <a:r>
              <a:rPr b="1" lang="en" sz="1100">
                <a:solidFill>
                  <a:schemeClr val="dk1"/>
                </a:solidFill>
              </a:rPr>
              <a:t>instantly recalculates KPI totals</a:t>
            </a:r>
            <a:r>
              <a:rPr lang="en" sz="1100">
                <a:solidFill>
                  <a:schemeClr val="dk1"/>
                </a:solidFill>
              </a:rPr>
              <a:t> to reflect the selected data.</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pic>
        <p:nvPicPr>
          <p:cNvPr id="298" name="Google Shape;298;p48"/>
          <p:cNvPicPr preferRelativeResize="0"/>
          <p:nvPr/>
        </p:nvPicPr>
        <p:blipFill>
          <a:blip r:embed="rId3">
            <a:alphaModFix/>
          </a:blip>
          <a:stretch>
            <a:fillRect/>
          </a:stretch>
        </p:blipFill>
        <p:spPr>
          <a:xfrm>
            <a:off x="4626350" y="1803100"/>
            <a:ext cx="4500049" cy="2519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p:nvPr/>
        </p:nvSpPr>
        <p:spPr>
          <a:xfrm>
            <a:off x="0" y="0"/>
            <a:ext cx="9144000" cy="888900"/>
          </a:xfrm>
          <a:prstGeom prst="rect">
            <a:avLst/>
          </a:prstGeom>
          <a:solidFill>
            <a:srgbClr val="1A365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49"/>
          <p:cNvSpPr txBox="1"/>
          <p:nvPr/>
        </p:nvSpPr>
        <p:spPr>
          <a:xfrm>
            <a:off x="381000" y="190500"/>
            <a:ext cx="8382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rPr>
              <a:t>Conclusion &amp; Critical Insights</a:t>
            </a:r>
            <a:endParaRPr b="1" sz="2800">
              <a:solidFill>
                <a:srgbClr val="FFFFFF"/>
              </a:solidFill>
            </a:endParaRPr>
          </a:p>
        </p:txBody>
      </p:sp>
      <p:sp>
        <p:nvSpPr>
          <p:cNvPr id="305" name="Google Shape;305;p49"/>
          <p:cNvSpPr txBox="1"/>
          <p:nvPr/>
        </p:nvSpPr>
        <p:spPr>
          <a:xfrm>
            <a:off x="564725" y="1140275"/>
            <a:ext cx="8047200" cy="374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rPr>
              <a:t>1. The Good News: Declining Trend</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Bicycle thefts dropped over </a:t>
            </a:r>
            <a:r>
              <a:rPr b="1" lang="en" sz="1200">
                <a:solidFill>
                  <a:schemeClr val="dk1"/>
                </a:solidFill>
              </a:rPr>
              <a:t>9%</a:t>
            </a:r>
            <a:r>
              <a:rPr lang="en" sz="1200">
                <a:solidFill>
                  <a:schemeClr val="dk1"/>
                </a:solidFill>
              </a:rPr>
              <a:t> in 2024, continuing a multi-year downward trajectory.</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2. The Bad News: Recovery Crisis</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The recovery rate remains extremely low at </a:t>
            </a:r>
            <a:r>
              <a:rPr b="1" lang="en" sz="1200">
                <a:solidFill>
                  <a:schemeClr val="dk1"/>
                </a:solidFill>
              </a:rPr>
              <a:t>less than 2%</a:t>
            </a:r>
            <a:r>
              <a:rPr lang="en" sz="1200">
                <a:solidFill>
                  <a:schemeClr val="dk1"/>
                </a:solidFill>
              </a:rPr>
              <a:t> across all police divisions.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3. High-Risk Locations</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rPr>
              <a:t>Apartments</a:t>
            </a:r>
            <a:r>
              <a:rPr lang="en" sz="1200">
                <a:solidFill>
                  <a:schemeClr val="dk1"/>
                </a:solidFill>
              </a:rPr>
              <a:t> are the most vulnerable premises type, accounting for nearly </a:t>
            </a:r>
            <a:r>
              <a:rPr b="1" lang="en" sz="1200">
                <a:solidFill>
                  <a:schemeClr val="dk1"/>
                </a:solidFill>
              </a:rPr>
              <a:t>25%</a:t>
            </a:r>
            <a:r>
              <a:rPr lang="en" sz="1200">
                <a:solidFill>
                  <a:schemeClr val="dk1"/>
                </a:solidFill>
              </a:rPr>
              <a:t> of all reported thefts.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4. "Danger Zones" (Time &amp; Season)</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Risk is not random. </a:t>
            </a:r>
            <a:r>
              <a:rPr b="1" lang="en" sz="1200">
                <a:solidFill>
                  <a:schemeClr val="dk1"/>
                </a:solidFill>
              </a:rPr>
              <a:t>Summer months</a:t>
            </a:r>
            <a:r>
              <a:rPr lang="en" sz="1200">
                <a:solidFill>
                  <a:schemeClr val="dk1"/>
                </a:solidFill>
              </a:rPr>
              <a:t> see </a:t>
            </a:r>
            <a:r>
              <a:rPr b="1" lang="en" sz="1200">
                <a:solidFill>
                  <a:schemeClr val="dk1"/>
                </a:solidFill>
              </a:rPr>
              <a:t>6x more thefts</a:t>
            </a:r>
            <a:r>
              <a:rPr lang="en" sz="1200">
                <a:solidFill>
                  <a:schemeClr val="dk1"/>
                </a:solidFill>
              </a:rPr>
              <a:t> than winter, peaking specifically on July evenings.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5. Targeted Assets</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Thieves are brand-aware. Premium brands like </a:t>
            </a:r>
            <a:r>
              <a:rPr b="1" lang="en" sz="1200">
                <a:solidFill>
                  <a:schemeClr val="dk1"/>
                </a:solidFill>
              </a:rPr>
              <a:t>Giant and Trek</a:t>
            </a:r>
            <a:r>
              <a:rPr lang="en" sz="1200">
                <a:solidFill>
                  <a:schemeClr val="dk1"/>
                </a:solidFill>
              </a:rPr>
              <a:t> are primary targets, while "Unknown" bikes still account for significant losses.</a:t>
            </a:r>
            <a:endParaRPr b="1" sz="19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65D"/>
        </a:solidFill>
      </p:bgPr>
    </p:bg>
    <p:spTree>
      <p:nvGrpSpPr>
        <p:cNvPr id="309" name="Shape 309"/>
        <p:cNvGrpSpPr/>
        <p:nvPr/>
      </p:nvGrpSpPr>
      <p:grpSpPr>
        <a:xfrm>
          <a:off x="0" y="0"/>
          <a:ext cx="0" cy="0"/>
          <a:chOff x="0" y="0"/>
          <a:chExt cx="0" cy="0"/>
        </a:xfrm>
      </p:grpSpPr>
      <p:sp>
        <p:nvSpPr>
          <p:cNvPr id="310" name="Google Shape;310;p50"/>
          <p:cNvSpPr txBox="1"/>
          <p:nvPr/>
        </p:nvSpPr>
        <p:spPr>
          <a:xfrm>
            <a:off x="634950" y="2063700"/>
            <a:ext cx="7874100" cy="101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000">
                <a:solidFill>
                  <a:srgbClr val="FFFFFF"/>
                </a:solidFill>
              </a:rPr>
              <a:t>THANK YOU</a:t>
            </a:r>
            <a:endParaRPr b="1" sz="5000">
              <a:solidFill>
                <a:srgbClr val="FFFFFF"/>
              </a:solidFill>
            </a:endParaRPr>
          </a:p>
          <a:p>
            <a:pPr indent="0" lvl="0" marL="0" rtl="0" algn="l">
              <a:spcBef>
                <a:spcPts val="0"/>
              </a:spcBef>
              <a:spcAft>
                <a:spcPts val="0"/>
              </a:spcAft>
              <a:buNone/>
            </a:pPr>
            <a:r>
              <a:t/>
            </a:r>
            <a:endParaRPr b="1" sz="4400">
              <a:solidFill>
                <a:srgbClr val="FFFFFF"/>
              </a:solidFill>
            </a:endParaRPr>
          </a:p>
          <a:p>
            <a:pPr indent="0" lvl="0" marL="0" rtl="0" algn="ctr">
              <a:spcBef>
                <a:spcPts val="0"/>
              </a:spcBef>
              <a:spcAft>
                <a:spcPts val="0"/>
              </a:spcAft>
              <a:buNone/>
            </a:pPr>
            <a:r>
              <a:t/>
            </a:r>
            <a:endParaRPr b="1" sz="44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